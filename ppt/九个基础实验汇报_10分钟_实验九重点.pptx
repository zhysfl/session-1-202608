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babe5e87ad4af1" /><Relationship Type="http://schemas.openxmlformats.org/officeDocument/2006/relationships/extended-properties" Target="/docProps/app.xml" Id="R4e9734c423a14ed3" /><Relationship Type="http://schemas.openxmlformats.org/officeDocument/2006/relationships/officeDocument" Target="/ppt/presentation.xml" Id="Rbd0d16484126447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4d96ae396a4468c"/>
  </p:sldMasterIdLst>
  <p:notesMasterIdLst>
    <p:notesMasterId xmlns:r="http://schemas.openxmlformats.org/officeDocument/2006/relationships" r:id="Rfbaee6a1237b4c19"/>
  </p:notesMasterIdLst>
  <p:sldIdLst>
    <p:sldId xmlns:r="http://schemas.openxmlformats.org/officeDocument/2006/relationships" id="256" r:id="R38b037e1bd8b4d0e"/>
    <p:sldId xmlns:r="http://schemas.openxmlformats.org/officeDocument/2006/relationships" id="257" r:id="R954a311c80fb481e"/>
    <p:sldId xmlns:r="http://schemas.openxmlformats.org/officeDocument/2006/relationships" id="258" r:id="Rbb159574ba404e8b"/>
    <p:sldId xmlns:r="http://schemas.openxmlformats.org/officeDocument/2006/relationships" id="259" r:id="R1923b0d32d424f74"/>
    <p:sldId xmlns:r="http://schemas.openxmlformats.org/officeDocument/2006/relationships" id="260" r:id="Rb12fdda09171480f"/>
    <p:sldId xmlns:r="http://schemas.openxmlformats.org/officeDocument/2006/relationships" id="261" r:id="Ra2a8ab06cf6a4545"/>
    <p:sldId xmlns:r="http://schemas.openxmlformats.org/officeDocument/2006/relationships" id="262" r:id="Rbb3c1b7584be4a36"/>
    <p:sldId xmlns:r="http://schemas.openxmlformats.org/officeDocument/2006/relationships" id="263" r:id="R13dc410c0ebf4f57"/>
    <p:sldId xmlns:r="http://schemas.openxmlformats.org/officeDocument/2006/relationships" id="264" r:id="Rec436c9e887f43d9"/>
    <p:sldId xmlns:r="http://schemas.openxmlformats.org/officeDocument/2006/relationships" id="265" r:id="Re2fda9ac967c4c39"/>
    <p:sldId xmlns:r="http://schemas.openxmlformats.org/officeDocument/2006/relationships" id="266" r:id="R11aeadaac8614333"/>
    <p:sldId xmlns:r="http://schemas.openxmlformats.org/officeDocument/2006/relationships" id="267" r:id="Rc2b4b8df204940ff"/>
    <p:sldId xmlns:r="http://schemas.openxmlformats.org/officeDocument/2006/relationships" id="268" r:id="R6c5b0bbaac2147b5"/>
    <p:sldId xmlns:r="http://schemas.openxmlformats.org/officeDocument/2006/relationships" id="269" r:id="R2138a97fb5b84431"/>
    <p:sldId xmlns:r="http://schemas.openxmlformats.org/officeDocument/2006/relationships" id="270" r:id="R8e800ab140b145b5"/>
    <p:sldId xmlns:r="http://schemas.openxmlformats.org/officeDocument/2006/relationships" id="271" r:id="Rba0c64bbedb54d4f"/>
    <p:sldId xmlns:r="http://schemas.openxmlformats.org/officeDocument/2006/relationships" id="272" r:id="R51f223274ec74d68"/>
    <p:sldId xmlns:r="http://schemas.openxmlformats.org/officeDocument/2006/relationships" id="273" r:id="Re2c8f86d7b644638"/>
    <p:sldId xmlns:r="http://schemas.openxmlformats.org/officeDocument/2006/relationships" id="274" r:id="R04ad4f348d7047b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cccb0ac1b24347" /><Relationship Type="http://schemas.openxmlformats.org/officeDocument/2006/relationships/slideMaster" Target="/ppt/slideMasters/slideMaster1.xml" Id="Rd4d96ae396a4468c" /><Relationship Type="http://schemas.openxmlformats.org/officeDocument/2006/relationships/notesMaster" Target="/ppt/notesMasters/notesMaster1.xml" Id="Rfbaee6a1237b4c19" /><Relationship Type="http://schemas.openxmlformats.org/officeDocument/2006/relationships/presProps" Target="/ppt/presProps.xml" Id="Rf3c4e33559f74e35" /><Relationship Type="http://schemas.openxmlformats.org/officeDocument/2006/relationships/viewProps" Target="/ppt/viewProps.xml" Id="R97c85c6f5f77415a" /><Relationship Type="http://schemas.openxmlformats.org/officeDocument/2006/relationships/tableStyles" Target="/ppt/tableStyles.xml" Id="Rf8160157bed04243" /><Relationship Type="http://schemas.openxmlformats.org/officeDocument/2006/relationships/slide" Target="/ppt/slides/slide1.xml" Id="R38b037e1bd8b4d0e" /><Relationship Type="http://schemas.openxmlformats.org/officeDocument/2006/relationships/slide" Target="/ppt/slides/slide2.xml" Id="R954a311c80fb481e" /><Relationship Type="http://schemas.openxmlformats.org/officeDocument/2006/relationships/slide" Target="/ppt/slides/slide3.xml" Id="Rbb159574ba404e8b" /><Relationship Type="http://schemas.openxmlformats.org/officeDocument/2006/relationships/slide" Target="/ppt/slides/slide4.xml" Id="R1923b0d32d424f74" /><Relationship Type="http://schemas.openxmlformats.org/officeDocument/2006/relationships/slide" Target="/ppt/slides/slide5.xml" Id="Rb12fdda09171480f" /><Relationship Type="http://schemas.openxmlformats.org/officeDocument/2006/relationships/slide" Target="/ppt/slides/slide6.xml" Id="Ra2a8ab06cf6a4545" /><Relationship Type="http://schemas.openxmlformats.org/officeDocument/2006/relationships/slide" Target="/ppt/slides/slide7.xml" Id="Rbb3c1b7584be4a36" /><Relationship Type="http://schemas.openxmlformats.org/officeDocument/2006/relationships/slide" Target="/ppt/slides/slide8.xml" Id="R13dc410c0ebf4f57" /><Relationship Type="http://schemas.openxmlformats.org/officeDocument/2006/relationships/slide" Target="/ppt/slides/slide9.xml" Id="Rec436c9e887f43d9" /><Relationship Type="http://schemas.openxmlformats.org/officeDocument/2006/relationships/slide" Target="/ppt/slides/slide10.xml" Id="Re2fda9ac967c4c39" /><Relationship Type="http://schemas.openxmlformats.org/officeDocument/2006/relationships/slide" Target="/ppt/slides/slide11.xml" Id="R11aeadaac8614333" /><Relationship Type="http://schemas.openxmlformats.org/officeDocument/2006/relationships/slide" Target="/ppt/slides/slide12.xml" Id="Rc2b4b8df204940ff" /><Relationship Type="http://schemas.openxmlformats.org/officeDocument/2006/relationships/slide" Target="/ppt/slides/slide13.xml" Id="R6c5b0bbaac2147b5" /><Relationship Type="http://schemas.openxmlformats.org/officeDocument/2006/relationships/slide" Target="/ppt/slides/slide14.xml" Id="R2138a97fb5b84431" /><Relationship Type="http://schemas.openxmlformats.org/officeDocument/2006/relationships/slide" Target="/ppt/slides/slide15.xml" Id="R8e800ab140b145b5" /><Relationship Type="http://schemas.openxmlformats.org/officeDocument/2006/relationships/slide" Target="/ppt/slides/slide16.xml" Id="Rba0c64bbedb54d4f" /><Relationship Type="http://schemas.openxmlformats.org/officeDocument/2006/relationships/slide" Target="/ppt/slides/slide17.xml" Id="R51f223274ec74d68" /><Relationship Type="http://schemas.openxmlformats.org/officeDocument/2006/relationships/slide" Target="/ppt/slides/slide18.xml" Id="Re2c8f86d7b644638" /><Relationship Type="http://schemas.openxmlformats.org/officeDocument/2006/relationships/slide" Target="/ppt/slides/slide19.xml" Id="R04ad4f348d7047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c90f18520af469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d5bf7a61a34ca6" /><Relationship Type="http://schemas.openxmlformats.org/officeDocument/2006/relationships/notesMaster" Target="/ppt/notesMasters/notesMaster1.xml" Id="R0d10b2ede511408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cfd8634acd42cd" /><Relationship Type="http://schemas.openxmlformats.org/officeDocument/2006/relationships/notesMaster" Target="/ppt/notesMasters/notesMaster1.xml" Id="R9b42d912c107457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c595bf9872c4318" /><Relationship Type="http://schemas.openxmlformats.org/officeDocument/2006/relationships/notesMaster" Target="/ppt/notesMasters/notesMaster1.xml" Id="Rd4ffb734b2eb4ae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538d3c9270d4677" /><Relationship Type="http://schemas.openxmlformats.org/officeDocument/2006/relationships/notesMaster" Target="/ppt/notesMasters/notesMaster1.xml" Id="Ra52ce6b3b99a4c1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1b031822cd3490b" /><Relationship Type="http://schemas.openxmlformats.org/officeDocument/2006/relationships/notesMaster" Target="/ppt/notesMasters/notesMaster1.xml" Id="R2953d05b1cca40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c709cf7603848e8" /><Relationship Type="http://schemas.openxmlformats.org/officeDocument/2006/relationships/notesMaster" Target="/ppt/notesMasters/notesMaster1.xml" Id="Rd11bc74fa95646a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06f3b4abacf453c" /><Relationship Type="http://schemas.openxmlformats.org/officeDocument/2006/relationships/notesMaster" Target="/ppt/notesMasters/notesMaster1.xml" Id="Rdd14d7a5fb1943d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1b217d64f10452a" /><Relationship Type="http://schemas.openxmlformats.org/officeDocument/2006/relationships/notesMaster" Target="/ppt/notesMasters/notesMaster1.xml" Id="Rd3f64b78debb4ba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8763c76c4794337" /><Relationship Type="http://schemas.openxmlformats.org/officeDocument/2006/relationships/notesMaster" Target="/ppt/notesMasters/notesMaster1.xml" Id="Recb6db60e05f427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539f0e639224fd9" /><Relationship Type="http://schemas.openxmlformats.org/officeDocument/2006/relationships/notesMaster" Target="/ppt/notesMasters/notesMaster1.xml" Id="R914eb0f64c29423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e001f294bbe4632" /><Relationship Type="http://schemas.openxmlformats.org/officeDocument/2006/relationships/notesMaster" Target="/ppt/notesMasters/notesMaster1.xml" Id="Rc3e2ddb613c54d3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afa09dff78b43f4" /><Relationship Type="http://schemas.openxmlformats.org/officeDocument/2006/relationships/notesMaster" Target="/ppt/notesMasters/notesMaster1.xml" Id="Rb7852d27797f4ad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0014316d2764e50" /><Relationship Type="http://schemas.openxmlformats.org/officeDocument/2006/relationships/notesMaster" Target="/ppt/notesMasters/notesMaster1.xml" Id="R09b666ed0c474cf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d1aa1714fcf4afa" /><Relationship Type="http://schemas.openxmlformats.org/officeDocument/2006/relationships/notesMaster" Target="/ppt/notesMasters/notesMaster1.xml" Id="Ra2f0aee205d24bd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627fdaf5a3c45a7" /><Relationship Type="http://schemas.openxmlformats.org/officeDocument/2006/relationships/notesMaster" Target="/ppt/notesMasters/notesMaster1.xml" Id="R631f852a9f81476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5fce1754f704e1a" /><Relationship Type="http://schemas.openxmlformats.org/officeDocument/2006/relationships/notesMaster" Target="/ppt/notesMasters/notesMaster1.xml" Id="R1d8dfbf59f40433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a05532f22f2449f" /><Relationship Type="http://schemas.openxmlformats.org/officeDocument/2006/relationships/notesMaster" Target="/ppt/notesMasters/notesMaster1.xml" Id="R00d402614020419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408482979b44e96" /><Relationship Type="http://schemas.openxmlformats.org/officeDocument/2006/relationships/notesMaster" Target="/ppt/notesMasters/notesMaster1.xml" Id="Rda317ee2533a4d3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b97e37aca804571" /><Relationship Type="http://schemas.openxmlformats.org/officeDocument/2006/relationships/notesMaster" Target="/ppt/notesMasters/notesMaster1.xml" Id="Re415f1a5d70647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【0:00-0:15】各位老师好。我们完成了九个基础实验，今天不按九个孤立作业来讲，而是沿着一条主线：机器人如何从感知环境、理解空间、学习决策，最终执行动作并形成闭环。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introduction/introduction.pdf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【0:15-0:40】九个实验分成四层：环境感知、空间认知、预测与学习、动作执行。前八个实验快速说明完整能力链，后半段重点汇报我负责的实验九：机械臂逆运动学、真机误差诊断以及闭环补偿。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introduction/introduction.md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【0:40-1:05】实验一用YOLO检测目标，再根据相似三角形由目标像素高度估计距离。连续五帧平均降低抖动，3米和5米阈值用于预警。结果能同时给类别和距离，但精度依赖标定与目标真实尺寸。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src/009/config.py</a:t>
            </a:r>
          </a:p>
          <a:p xmlns:a="http://schemas.openxmlformats.org/drawingml/2006/main">
            <a:r>
              <a:t>- src/009/distance_calc.py</a:t>
            </a:r>
          </a:p>
          <a:p xmlns:a="http://schemas.openxmlformats.org/drawingml/2006/main">
            <a:r>
              <a:t>- paper/009/figs/warning_demo.png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【1:05-1:30】实验七把目标框扩展到像素级道路区域。100张数据上冻结骨干前十层做迁移学习，Mask mAP@0.5为0.995，严格指标0.879，延迟26.72毫秒。结果很好，但小数据集意味着仍需跨天气和道路验证。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基础实验汇报/individual_clips/07_road_segmentation.mp4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【1:30-1:55】实验四把RGB-D像素反投影成三维点，用相机位姿对齐多帧，再通过TSDF融合与Marching Cubes得到网格。加入10毫米深度噪声后，TSDF残差4.10毫米，优于直接拼接的10.36毫米。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paper/001/main.tex</a:t>
            </a:r>
          </a:p>
          <a:p xmlns:a="http://schemas.openxmlformats.org/drawingml/2006/main">
            <a:r>
              <a:t>- paper/001/figures/fig_noise.png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1:55-2:20】实验六使用RMHC-SLAM比较纯激光与激光加里程计。办公室和实验室数据中，融合里程计让覆盖面积分别提升4.7%和9.4%，复杂环境收益更明显。由于没有真实轨迹，结论聚焦覆盖与效率，不把它表述为绝对定位精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src/005/results/comparison.json</a:t>
            </a:r>
          </a:p>
          <a:p xmlns:a="http://schemas.openxmlformats.org/drawingml/2006/main">
            <a:r>
              <a:t>- src/005/results/comparison_grid.png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【2:20-2:45】实验二用9个测距传感器加线速度和角速度预测未来30帧是否碰撞，测试准确率83.65%、召回率84.08%。DQN再根据风险决定减速或避障，V3策略在500个未见种子上碰撞率1.20%。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基础实验汇报/individual_clips/02_collision_prediction.mp4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2:45-3:10】实验三用CartPole说明强化学习。智能体观察四维状态、选择左右动作、通过存活奖励学习。中等粒度Q-Learning在封存测试集上平均490.30步、成功率91.67%；更细离散反而不稳定，说明表达能力要与样本覆盖匹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src/006/B3_cartpole/EVALUATION_SUMMARY.md</a:t>
            </a:r>
          </a:p>
          <a:p xmlns:a="http://schemas.openxmlformats.org/drawingml/2006/main">
            <a:r>
              <a:t>- paper/006/B3_cartpole/figures/final_performance.png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【3:10-3:35】实验五比较行为克隆和DAgger。行为克隆离线误差虽小，但上线后会进入示范数据未覆盖的状态；DAgger让当前策略运行并持续补充专家标注。CartPole中固定行为克隆成功率20%，DAgger达到100%。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基础实验汇报/individual_clips/05_imitation_learning.mp4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【3:35-4:00】实验八用CNN把前向图像直接回归连续转向角。共有7698条记录、约97万参数，验证MSE为0.0144。仓库缺少原始训练图像和严格闭环成功率，所以这里只说明端到端链路已经跑通，不夸大泛化能力。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基础实验汇报/individual_clips/08_end_to_end_driving.mp4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4:00-4:45】下面重点讲实验九。对象是3D打印SO-101，6个舵机中前5个参与逆运动学，末端还有98毫米把手。任务输入是五维末端位姿，输出五个关节角。我们真机采集600组安全姿态，目标是公平比较四类IK，并让结果真正落到物理动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src/002/real_robot_dataset.h5</a:t>
            </a:r>
          </a:p>
          <a:p xmlns:a="http://schemas.openxmlformats.org/drawingml/2006/main">
            <a:r>
              <a:t>- src/002/configs/robot_config.yaml</a:t>
            </a:r>
          </a:p>
          <a:p xmlns:a="http://schemas.openxmlformats.org/drawingml/2006/main">
            <a:r>
              <a:t>- 基础实验汇报/assets/ik_workspace.png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4:45-5:35】算法分两层。第一层是IK求解：解析法直接套几何公式；数值法用阻尼最小二乘迭代；神经网络学习12维输入到5维关节角，其中角度用sin/cos编码，tanh保证输出不越关节限位；混合法先由网络给初值，再做少量数值微调。第二层是真机闭环：执行q_target后读编码器q_actual，用0.8倍残差更新q_cmd，直到关节误差进入阈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src/002/docs/NEURAL_IK_PRINCIPLE.md</a:t>
            </a:r>
          </a:p>
          <a:p xmlns:a="http://schemas.openxmlformats.org/drawingml/2006/main">
            <a:r>
              <a:t>- src/002/kinematics/numerical_ik.py</a:t>
            </a:r>
          </a:p>
          <a:p xmlns:a="http://schemas.openxmlformats.org/drawingml/2006/main">
            <a:r>
              <a:t>- src/002/neural_network/model.py</a:t>
            </a:r>
          </a:p>
          <a:p xmlns:a="http://schemas.openxmlformats.org/drawingml/2006/main">
            <a:r>
              <a:t>- src/002/scripts/evaluation/closed_loop_joint.py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5:35-6:25】软件层50个目标点的结果说明没有单一最优法。解析法只成功4次，平均误差243.5毫米，根因是官方几何参数不适配这台3D打印臂。数值法0.89毫米最精确，但需28.35毫秒；神经网络只需0.69毫秒，但误差17.24毫米；混合法用微调步数在精度和延迟之间调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src/002/four_methods_eval.json</a:t>
            </a:r>
          </a:p>
          <a:p xmlns:a="http://schemas.openxmlformats.org/drawingml/2006/main">
            <a:r>
              <a:t>- src/002/ablation_hybrid_steps.json</a:t>
            </a:r>
          </a:p>
          <a:p xmlns:a="http://schemas.openxmlformats.org/drawingml/2006/main">
            <a:r>
              <a:t>- src/002/demo_summary/figures/03_四方法软件对比.png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6:25-7:15】真正关键的发现来自真机。同一批5个目标点上，数值、神经和混合方法的软件误差差别很大，但真机开环平均误差都在35.6到36.0毫米。这说明继续优化IK只能改善软件层，无法跨过重力下垂、齿隙和打印公差形成的机械误差地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src/002/benchmark_real_robot.json</a:t>
            </a:r>
          </a:p>
          <a:p xmlns:a="http://schemas.openxmlformats.org/drawingml/2006/main">
            <a:r>
              <a:t>- src/002/demo_summary/figures/04_软件vs真机机械地板.png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7:15-8:10】解决办法是利用舵机编码器形成关节空间闭环。每轮执行后读取真实关节角，按q_cmd加0.8倍关节残差更新命令。5个测试点最多迭代5轮，平均位置误差从33.56毫米降到3.96毫米，下降88%；最终单点误差在1.0到9.9毫米之间。它不需要相机，但只能补偿编码器可观测到的关节偏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src/002/closed_loop_joint_results.json</a:t>
            </a:r>
          </a:p>
          <a:p xmlns:a="http://schemas.openxmlformats.org/drawingml/2006/main">
            <a:r>
              <a:t>- src/002/demo_summary/figures/05_关节闭环收敛.png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8:10-9:00】最后用接触式任务展示成果。先示教记录28个轨迹点并平滑，再检查真实把手在整条路径上都高于192毫米安全线。闭环让机械臂准确到达接触点A，随后抬升到B，把瓶盖上的物块推落，同时瓶体保持稳定。现场可选播放individual_clips中的实验九视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src/002/block_coords.json</a:t>
            </a:r>
          </a:p>
          <a:p xmlns:a="http://schemas.openxmlformats.org/drawingml/2006/main">
            <a:r>
              <a:t>- src/002/scripts/demo/push_block.py</a:t>
            </a:r>
          </a:p>
          <a:p xmlns:a="http://schemas.openxmlformats.org/drawingml/2006/main">
            <a:r>
              <a:t>- src/002/demo_summary/figures/07_演示轨迹_物块推落.png</a:t>
            </a:r>
          </a:p>
          <a:p xmlns:a="http://schemas.openxmlformats.org/drawingml/2006/main">
            <a:r>
              <a:t>- 基础实验汇报/individual_clips/09_inverse_kinematics.mp4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9:00-9:30】九个实验最终形成两条应用链。移动机器人链从测距和分割到风险、策略与驾驶；机械臂链从三维场景和定位到逆运动学执行。两条链共享同一个机制：传感器产生状态，算法形成判断，控制器执行动作，环境反馈再次进入传感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introduction/introduction.md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9:30-10:00】总结来看，前八项实验建立了感知、空间认知和学习决策能力；实验九说明真实机器人效果最终取决于闭环。软件最优不等于真机最优，真正把误差从约34毫米压到4毫米的，是命令、读反馈、补偿误差这一条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src/002/four_methods_eval.json</a:t>
            </a:r>
          </a:p>
          <a:p xmlns:a="http://schemas.openxmlformats.org/drawingml/2006/main">
            <a:r>
              <a:t>- src/002/closed_loop_joint_results.json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【附录，不计时】需要补充证据时，可在此页选择播放单个实验录屏。实验九对应individual_clips/09_inverse_kinematics.mp4。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基础实验汇报/individual_clips/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a8f5176bb1473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cb4afeaf964267" /><Relationship Type="http://schemas.openxmlformats.org/officeDocument/2006/relationships/slideLayout" Target="/ppt/slideLayouts/slideLayout1.xml" Id="Rfeee0234b9cd427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ee0234b9cd42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e3d6cdafba40dc" /><Relationship Type="http://schemas.openxmlformats.org/officeDocument/2006/relationships/notesSlide" Target="/ppt/notesSlides/notesSlide1.xml" Id="R7ac5878c5a6d4fe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328c7bc55340ee" /><Relationship Type="http://schemas.openxmlformats.org/officeDocument/2006/relationships/notesSlide" Target="/ppt/notesSlides/notesSlide2.xml" Id="R509a29b6cf6f47e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198d49a1ec4e23" /><Relationship Type="http://schemas.openxmlformats.org/officeDocument/2006/relationships/image" Target="/ppt/media/image.jpeg" Id="R5691c27982834b85" /><Relationship Type="http://schemas.openxmlformats.org/officeDocument/2006/relationships/notesSlide" Target="/ppt/notesSlides/notesSlide3.xml" Id="R3267eddfdd424bc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8f86287ec24dd8" /><Relationship Type="http://schemas.openxmlformats.org/officeDocument/2006/relationships/image" Target="/ppt/media/image2.jpeg" Id="Rf51e0e5c88ad42dc" /><Relationship Type="http://schemas.openxmlformats.org/officeDocument/2006/relationships/notesSlide" Target="/ppt/notesSlides/notesSlide4.xml" Id="R8417416d606240d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8bb76402de406e" /><Relationship Type="http://schemas.openxmlformats.org/officeDocument/2006/relationships/image" Target="/ppt/media/image.png" Id="R9c6f798fd6ef4081" /><Relationship Type="http://schemas.openxmlformats.org/officeDocument/2006/relationships/notesSlide" Target="/ppt/notesSlides/notesSlide5.xml" Id="R66a42c7009a14f2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5d926354e044c6" /><Relationship Type="http://schemas.openxmlformats.org/officeDocument/2006/relationships/image" Target="/ppt/media/image2.png" Id="R465d4d265ead4bd4" /><Relationship Type="http://schemas.openxmlformats.org/officeDocument/2006/relationships/notesSlide" Target="/ppt/notesSlides/notesSlide6.xml" Id="R0d3398023ff84df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9f63f4bad84491" /><Relationship Type="http://schemas.openxmlformats.org/officeDocument/2006/relationships/image" Target="/ppt/media/image3.png" Id="R854358f5d359469b" /><Relationship Type="http://schemas.openxmlformats.org/officeDocument/2006/relationships/notesSlide" Target="/ppt/notesSlides/notesSlide7.xml" Id="Rf5e60ac13bb5456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06046b254a4c35" /><Relationship Type="http://schemas.openxmlformats.org/officeDocument/2006/relationships/image" Target="/ppt/media/image4.png" Id="Rcd7e21e0ccb0432b" /><Relationship Type="http://schemas.openxmlformats.org/officeDocument/2006/relationships/notesSlide" Target="/ppt/notesSlides/notesSlide8.xml" Id="Rcb598f551bf04e3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379ab8b4e24ecc" /><Relationship Type="http://schemas.openxmlformats.org/officeDocument/2006/relationships/image" Target="/ppt/media/image5.png" Id="R68c40bc42b9e4150" /><Relationship Type="http://schemas.openxmlformats.org/officeDocument/2006/relationships/notesSlide" Target="/ppt/notesSlides/notesSlide9.xml" Id="Rd186b1da15374f1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4a9c1cc0b14d1d" /><Relationship Type="http://schemas.openxmlformats.org/officeDocument/2006/relationships/image" Target="/ppt/media/image3.jpeg" Id="Reb5dd4d22d4a4d41" /><Relationship Type="http://schemas.openxmlformats.org/officeDocument/2006/relationships/notesSlide" Target="/ppt/notesSlides/notesSlide10.xml" Id="R244d7007a1c74c5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d8ee2818454621" /><Relationship Type="http://schemas.openxmlformats.org/officeDocument/2006/relationships/image" Target="/ppt/media/image6.png" Id="Rc20efce8ad1c40fc" /><Relationship Type="http://schemas.openxmlformats.org/officeDocument/2006/relationships/notesSlide" Target="/ppt/notesSlides/notesSlide11.xml" Id="R49cb7f37906d4a1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ae886441d64796" /><Relationship Type="http://schemas.openxmlformats.org/officeDocument/2006/relationships/notesSlide" Target="/ppt/notesSlides/notesSlide12.xml" Id="R2526fecdb1d640e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07ab3ca2c14dcf" /><Relationship Type="http://schemas.openxmlformats.org/officeDocument/2006/relationships/image" Target="/ppt/media/image7.png" Id="R24d038e172a7496b" /><Relationship Type="http://schemas.openxmlformats.org/officeDocument/2006/relationships/notesSlide" Target="/ppt/notesSlides/notesSlide13.xml" Id="R3d064550c64d472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55304b656a49db" /><Relationship Type="http://schemas.openxmlformats.org/officeDocument/2006/relationships/image" Target="/ppt/media/image8.png" Id="R6bb078208eb448e5" /><Relationship Type="http://schemas.openxmlformats.org/officeDocument/2006/relationships/notesSlide" Target="/ppt/notesSlides/notesSlide14.xml" Id="Rf7956dabe3d14b4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1640d8efca4f7c" /><Relationship Type="http://schemas.openxmlformats.org/officeDocument/2006/relationships/image" Target="/ppt/media/image9.png" Id="Rabbf91d5af274cf4" /><Relationship Type="http://schemas.openxmlformats.org/officeDocument/2006/relationships/notesSlide" Target="/ppt/notesSlides/notesSlide15.xml" Id="R9f8ef227e6e0483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4f62a0385e43b2" /><Relationship Type="http://schemas.openxmlformats.org/officeDocument/2006/relationships/image" Target="/ppt/media/image10.png" Id="Re277d1f2d5df4f38" /><Relationship Type="http://schemas.openxmlformats.org/officeDocument/2006/relationships/notesSlide" Target="/ppt/notesSlides/notesSlide16.xml" Id="Rb3bbba9840e040a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22cf1c51e74601" /><Relationship Type="http://schemas.openxmlformats.org/officeDocument/2006/relationships/notesSlide" Target="/ppt/notesSlides/notesSlide17.xml" Id="R9ca8070c25eb45d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f61dea14704cc8" /><Relationship Type="http://schemas.openxmlformats.org/officeDocument/2006/relationships/notesSlide" Target="/ppt/notesSlides/notesSlide18.xml" Id="Rdf5bb181ca7f47c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52c57261a94320" /><Relationship Type="http://schemas.openxmlformats.org/officeDocument/2006/relationships/image" Target="/ppt/media/image.jpeg" Id="Rdba9d1bd141b4473" /><Relationship Type="http://schemas.openxmlformats.org/officeDocument/2006/relationships/image" Target="/ppt/media/image3.png" Id="R2ad0a9c2a77d41dd" /><Relationship Type="http://schemas.openxmlformats.org/officeDocument/2006/relationships/image" Target="/ppt/media/image4.png" Id="Re7b69ff0e64746c7" /><Relationship Type="http://schemas.openxmlformats.org/officeDocument/2006/relationships/image" Target="/ppt/media/image.png" Id="Ra15dc08824634788" /><Relationship Type="http://schemas.openxmlformats.org/officeDocument/2006/relationships/image" Target="/ppt/media/image5.png" Id="Ra10a604fb8ca4f8e" /><Relationship Type="http://schemas.openxmlformats.org/officeDocument/2006/relationships/image" Target="/ppt/media/image2.png" Id="R6649057d8a404e12" /><Relationship Type="http://schemas.openxmlformats.org/officeDocument/2006/relationships/image" Target="/ppt/media/image2.jpeg" Id="R2bbf414f620c4e25" /><Relationship Type="http://schemas.openxmlformats.org/officeDocument/2006/relationships/image" Target="/ppt/media/image3.jpeg" Id="Rbd621b75bfb9409f" /><Relationship Type="http://schemas.openxmlformats.org/officeDocument/2006/relationships/image" Target="/ppt/media/image6.png" Id="Ra5b58fe8a79b4acf" /><Relationship Type="http://schemas.openxmlformats.org/officeDocument/2006/relationships/notesSlide" Target="/ppt/notesSlides/notesSlide19.xml" Id="R9ad991e866674c6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F02D825B-95B4-49F1-9CCE-5D54EC819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3D8D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3D8DFF"/>
                </a:solidFill>
                <a:latin typeface="微软雅黑"/>
                <a:ea typeface="微软雅黑"/>
                <a:cs typeface="微软雅黑"/>
              </a:rPr>
              <a:t>SESSION 1 · 基础实验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876CD996-FC01-41AE-B478-234218156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0"/>
            <a:ext cx="10287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1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51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九个基础实验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51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51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如何连成一个机器人闭环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3B3B5AE-AB99-4472-A43C-C15CBB2B8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1490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感知环境 · 建立空间认知 · 学习决策 · 执行动作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66D9251-B169-4727-BFB4-AF41EE976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95950"/>
            <a:ext cx="2762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426978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E3A39D97-D547-4EE0-90C2-94EB959B0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九个实验共同回答：机器人怎样形成闭环？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A8E5C0B6-3285-44CD-B947-493A86182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前一阶段的输出，就是后一阶段的输入</a:t>
            </a:r>
          </a:p>
        </p:txBody>
      </p:sp>
      <p:sp>
        <p:nvSpPr>
          <p:cNvPr id="3" name="右箭头 2">
            <a:extLst xmlns:a="http://schemas.openxmlformats.org/drawingml/2006/main">
              <a:ext uri="{FF2B5EF4-FFF2-40B4-BE49-F238E27FC236}">
                <a16:creationId xmlns:a16="http://schemas.microsoft.com/office/drawing/2014/main" id="{AC705DF9-F7C7-41C8-9522-D2146BD95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286125"/>
            <a:ext cx="45720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右箭头 3">
            <a:extLst xmlns:a="http://schemas.openxmlformats.org/drawingml/2006/main">
              <a:ext uri="{FF2B5EF4-FFF2-40B4-BE49-F238E27FC236}">
                <a16:creationId xmlns:a16="http://schemas.microsoft.com/office/drawing/2014/main" id="{5CB1F9B1-9788-4C48-A55D-05BAB6BA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286125"/>
            <a:ext cx="45720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右箭头 4">
            <a:extLst xmlns:a="http://schemas.openxmlformats.org/drawingml/2006/main">
              <a:ext uri="{FF2B5EF4-FFF2-40B4-BE49-F238E27FC236}">
                <a16:creationId xmlns:a16="http://schemas.microsoft.com/office/drawing/2014/main" id="{001DA0E6-BCB3-47A3-A121-FBD4820E0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286125"/>
            <a:ext cx="45720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3AD1B598-3333-4B09-A8CE-7D761A4F6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2381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FF65FFA-5CB3-4DEF-81DA-59705F75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2381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C43C02D-D565-4E7A-8209-07D5B4BAB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7655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环境感知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7AD5978-39CF-430B-B7AB-F51BAACC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48050"/>
            <a:ext cx="20383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①目标检测与测距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⑦道路分割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4254A39D-86CC-4A0F-BBFB-39528184B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514600"/>
            <a:ext cx="2190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28575">
            <a:solidFill>
              <a:srgbClr val="7C6FF2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D23B7CE7-EC02-494B-A5BC-1340842A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51460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F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A58CF2E7-F4EF-450B-8C30-3DF13FA0B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876550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空间认知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FA7FF334-60B4-47EC-A89D-62763AA25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448050"/>
            <a:ext cx="1847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④三维重建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⑥SLAM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2650B3C2-61A5-4C32-81DE-D1B172DE3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514600"/>
            <a:ext cx="2190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28575">
            <a:solidFill>
              <a:srgbClr val="F59E0B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9C122775-5D0B-4A1C-9F94-A34D5DCD3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51460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B06E3A91-DBB1-4D99-B18A-CF662F52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876550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预测与学习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54EF9190-F821-49F5-9A58-9BB7BEC13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448050"/>
            <a:ext cx="1847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②碰撞预测  ③强化学习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⑤模仿学习  ⑧端到端驾驶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C14ED9DE-369C-4DB9-A284-2693D9E7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514600"/>
            <a:ext cx="2381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28575">
            <a:solidFill>
              <a:srgbClr val="24A36A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2D80D283-67DD-4032-8C53-7F0EF7EE6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514600"/>
            <a:ext cx="2381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E249A110-6F0B-40FD-840E-BB2591910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87655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动作执行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3C05F749-ED28-4B4A-9CA2-85861E3CB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448050"/>
            <a:ext cx="20383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⑨机械臂逆运动学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车辆转向与关节控制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99922067-4742-4D06-AB87-C606EF42C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5875"/>
            <a:ext cx="11096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3D8DFF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3D8DFF"/>
                </a:solidFill>
                <a:latin typeface="微软雅黑"/>
                <a:ea typeface="微软雅黑"/>
                <a:cs typeface="微软雅黑"/>
              </a:rPr>
              <a:t>环境反馈重新进入传感器，闭环再次开始</a:t>
            </a:r>
          </a:p>
        </p:txBody>
      </p:sp>
      <p:cxnSp>
        <p:nvCxnSpPr>
          <p:cNvPr id="94" name="直接箭头连接符 47"/>
          <p:cNvCxnSpPr/>
          <p:nvPr/>
        </p:nvCxnSpPr>
        <p:spPr>
          <a:xfrm xmlns:a="http://schemas.openxmlformats.org/drawingml/2006/main">
            <a:off x="457200" y="6343650"/>
            <a:ext cx="108394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E414C5AB-8B10-462C-9F4C-D19914C89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总体框架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B49D356-F226-42F5-A25A-F9A0DE437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458251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8EF55991-7226-46BA-B4B9-088BA929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rPr>
              <a:t>基础实验 ①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A656DA62-911C-4E16-90CC-AADA056F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334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9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29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目标检测只回答“有什么”，测距才回答“多远”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EF642D3-560D-4C7A-A8C6-465A33DBE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81175"/>
            <a:ext cx="514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YOLO定位车辆与行人，再用针孔模型估计距离并分级预警。</a:t>
            </a:r>
          </a:p>
        </p:txBody>
      </p:sp>
      <p:cxnSp>
        <p:nvCxnSpPr>
          <p:cNvPr id="53" name="直接箭头连接符 20"/>
          <p:cNvCxnSpPr/>
          <p:nvPr/>
        </p:nvCxnSpPr>
        <p:spPr>
          <a:xfrm xmlns:a="http://schemas.openxmlformats.org/drawingml/2006/main">
            <a:off x="457200" y="2686050"/>
            <a:ext cx="5143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D5C20BC-B291-43FA-B743-E74B528BE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1465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rPr>
              <a:t>输入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C7C9668-CC4A-414A-A83D-77F70023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14650"/>
            <a:ext cx="436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单目相机图像或视频；YOLOv10s输出目标框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FBF364B-0143-4BE0-8BB1-8A1A8C18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4330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rPr>
              <a:t>原理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889718A-6748-4133-90D8-C24DC26C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43300"/>
            <a:ext cx="436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d = H·f / h；目标真实尺寸、焦距和像素尺寸共同决定距离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E585151-F197-4210-A344-12F91A11D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7195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rPr>
              <a:t>工程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94E47C9-58D0-4020-B39E-78060A9F7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71950"/>
            <a:ext cx="436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连续5帧平滑；小于3 m危险，3–5 m警告，大于5 m安全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13C2F31-E416-4F8F-A1FB-8213B6E29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86375"/>
            <a:ext cx="1924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3D8D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3D8DFF"/>
                </a:solidFill>
                <a:latin typeface="微软雅黑"/>
                <a:ea typeface="微软雅黑"/>
                <a:cs typeface="微软雅黑"/>
              </a:rPr>
              <a:t>3 / 5 m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6216D097-08FF-4E4D-ABD5-0E149CB10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3911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两级距离告警阈值</a:t>
            </a:r>
          </a:p>
        </p:txBody>
      </p:sp>
      <p:sp>
        <p:nvSpPr>
          <p:cNvPr id="13" name="image-backing-①">
            <a:extLst xmlns:a="http://schemas.openxmlformats.org/drawingml/2006/main">
              <a:ext uri="{FF2B5EF4-FFF2-40B4-BE49-F238E27FC236}">
                <a16:creationId xmlns:a16="http://schemas.microsoft.com/office/drawing/2014/main" id="{2FE0544B-0802-4C80-B3E1-8D80AB78C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000"/>
            <a:ext cx="5619750" cy="5600700"/>
          </a:xfrm>
          <a:prstGeom xmlns:a="http://schemas.openxmlformats.org/drawingml/2006/main" prst="roundRect">
            <a:avLst>
              <a:gd name="adj" fmla="val 136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63" name="图片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91c27982834b85"/>
          <a:srcRect xmlns:a="http://schemas.openxmlformats.org/drawingml/2006/main" l="0" t="27591" r="0" b="275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590550"/>
            <a:ext cx="5238750" cy="5181600"/>
          </a:xfrm>
          <a:prstGeom xmlns:a="http://schemas.openxmlformats.org/drawingml/2006/main" prst="roundRect">
            <a:avLst>
              <a:gd name="adj" fmla="val 2206"/>
            </a:avLst>
          </a:prstGeom>
        </p:spPr>
      </p:pic>
      <p:cxnSp>
        <p:nvCxnSpPr>
          <p:cNvPr id="64" name="直接箭头连接符 31"/>
          <p:cNvCxnSpPr/>
          <p:nvPr/>
        </p:nvCxnSpPr>
        <p:spPr>
          <a:xfrm xmlns:a="http://schemas.openxmlformats.org/drawingml/2006/main">
            <a:off x="457200" y="6343650"/>
            <a:ext cx="108394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779A8859-9AB4-41DC-A4C4-1A11D3DF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环境感知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0385C475-E907-4AFF-BEB0-707D1192C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915157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C5EEFE5A-A7A9-4116-9C65-94F6A471C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rPr>
              <a:t>基础实验 ⑦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BD2B5D64-165A-47CD-A2AD-65F5A032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334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9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29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像素级道路掩膜把“能否走”交给视觉模型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80DA43F3-5308-47C0-BA7F-A2F04360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81175"/>
            <a:ext cx="514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实例分割从目标框进一步细化到道路的像素级边界。</a:t>
            </a:r>
          </a:p>
        </p:txBody>
      </p:sp>
      <p:cxnSp>
        <p:nvCxnSpPr>
          <p:cNvPr id="53" name="直接箭头连接符 20"/>
          <p:cNvCxnSpPr/>
          <p:nvPr/>
        </p:nvCxnSpPr>
        <p:spPr>
          <a:xfrm xmlns:a="http://schemas.openxmlformats.org/drawingml/2006/main">
            <a:off x="457200" y="2686050"/>
            <a:ext cx="5143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92197087-4231-4143-8914-3A1F2D496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1465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rPr>
              <a:t>数据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A2736AC2-6A55-4F05-A1B1-35157E0DC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14650"/>
            <a:ext cx="436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100张多边形标注图像，按80/10/10划分训练、验证和测试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2F60577-D9FB-4164-AF8C-CDDCDB42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4330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4B59029-563B-4BA6-8F7C-C5C44B4F1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43300"/>
            <a:ext cx="436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冻结前10层进行迁移学习，在小数据集上降低过拟合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A1B340A5-370F-4FF9-AC64-CA27494F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7195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rPr>
              <a:t>结果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FBB74FD-1CAB-4056-9949-076AA9E0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71950"/>
            <a:ext cx="436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Mask mAP@0.5为0.995；更严格的mAP@0.5:0.95为0.879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A51E1AEC-4230-4C28-994E-DA4AFFEE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86375"/>
            <a:ext cx="1924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3D8D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3D8DFF"/>
                </a:solidFill>
                <a:latin typeface="微软雅黑"/>
                <a:ea typeface="微软雅黑"/>
                <a:cs typeface="微软雅黑"/>
              </a:rPr>
              <a:t>26.72 ms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170821C8-7712-4B63-888F-D35F5E8E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3911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单图总延迟，约37 FPS</a:t>
            </a:r>
          </a:p>
        </p:txBody>
      </p:sp>
      <p:sp>
        <p:nvSpPr>
          <p:cNvPr id="13" name="image-backing-⑦">
            <a:extLst xmlns:a="http://schemas.openxmlformats.org/drawingml/2006/main">
              <a:ext uri="{FF2B5EF4-FFF2-40B4-BE49-F238E27FC236}">
                <a16:creationId xmlns:a16="http://schemas.microsoft.com/office/drawing/2014/main" id="{CB5906CD-996B-43D1-808A-D22C2C547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000"/>
            <a:ext cx="5619750" cy="5600700"/>
          </a:xfrm>
          <a:prstGeom xmlns:a="http://schemas.openxmlformats.org/drawingml/2006/main" prst="roundRect">
            <a:avLst>
              <a:gd name="adj" fmla="val 136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63" name="图片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1e0e5c88ad42dc"/>
          <a:srcRect xmlns:a="http://schemas.openxmlformats.org/drawingml/2006/main" l="0" t="545" r="0" b="5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590550"/>
            <a:ext cx="5238750" cy="5181600"/>
          </a:xfrm>
          <a:prstGeom xmlns:a="http://schemas.openxmlformats.org/drawingml/2006/main" prst="roundRect">
            <a:avLst>
              <a:gd name="adj" fmla="val 2206"/>
            </a:avLst>
          </a:prstGeom>
        </p:spPr>
      </p:pic>
      <p:cxnSp>
        <p:nvCxnSpPr>
          <p:cNvPr id="64" name="直接箭头连接符 31"/>
          <p:cNvCxnSpPr/>
          <p:nvPr/>
        </p:nvCxnSpPr>
        <p:spPr>
          <a:xfrm xmlns:a="http://schemas.openxmlformats.org/drawingml/2006/main">
            <a:off x="457200" y="6343650"/>
            <a:ext cx="108394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C25DBA53-DFEF-4FED-8F5F-84F1954A9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环境感知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D84B9AEB-CEF0-4FE8-9284-2145B0B1A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994199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E4417286-E3D3-4AA1-B0B9-F1D7AD1C4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rPr>
              <a:t>基础实验 ④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F6E2095-637E-439B-8C39-5AD9C43A3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334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9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29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RGB-D把二维像素恢复为可测量的三维场景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88A587F-5448-4D3D-8947-3B7CCBF26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81175"/>
            <a:ext cx="514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深度解除投影歧义，多视角TSDF融合得到一致表面。</a:t>
            </a:r>
          </a:p>
        </p:txBody>
      </p:sp>
      <p:cxnSp>
        <p:nvCxnSpPr>
          <p:cNvPr id="53" name="直接箭头连接符 20"/>
          <p:cNvCxnSpPr/>
          <p:nvPr/>
        </p:nvCxnSpPr>
        <p:spPr>
          <a:xfrm xmlns:a="http://schemas.openxmlformats.org/drawingml/2006/main">
            <a:off x="457200" y="2686050"/>
            <a:ext cx="5143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E9922D2-35B7-4385-A4F5-038FDE2AF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1465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rPr>
              <a:t>输入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C455B11-A538-4B08-87F3-6374588BA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14650"/>
            <a:ext cx="436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彩色图、逐像素深度和相机位姿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63DD29A-9FF9-40BB-B9A8-5ED57554A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4330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rPr>
              <a:t>过程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4B283385-FD36-4B4B-BBE1-3B25753A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43300"/>
            <a:ext cx="436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像素反投影为点云，多帧对齐后用TSDF融合并提取网格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DCC865F-B390-47E2-9D4E-1E2AE8B13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7195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rPr>
              <a:t>验证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F3AA961-3D94-406F-B48E-8CB842A1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71950"/>
            <a:ext cx="436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干净仿真数据中地面RMS约2.7 mm，5 mm体素兼顾质量与速度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24A0724-2C83-4543-B0EF-759CE1F1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86375"/>
            <a:ext cx="1924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3D8D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3D8DFF"/>
                </a:solidFill>
                <a:latin typeface="微软雅黑"/>
                <a:ea typeface="微软雅黑"/>
                <a:cs typeface="微软雅黑"/>
              </a:rPr>
              <a:t>4.10 mm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B7CA4F4F-91B7-43BB-B8FD-1C506B3C7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3911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10 mm深度噪声下；直接拼接为10.36 mm</a:t>
            </a:r>
          </a:p>
        </p:txBody>
      </p:sp>
      <p:sp>
        <p:nvSpPr>
          <p:cNvPr id="13" name="image-backing-④">
            <a:extLst xmlns:a="http://schemas.openxmlformats.org/drawingml/2006/main">
              <a:ext uri="{FF2B5EF4-FFF2-40B4-BE49-F238E27FC236}">
                <a16:creationId xmlns:a16="http://schemas.microsoft.com/office/drawing/2014/main" id="{DABB328D-DC88-400E-A8F5-DE53DE96D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000"/>
            <a:ext cx="5619750" cy="5600700"/>
          </a:xfrm>
          <a:prstGeom xmlns:a="http://schemas.openxmlformats.org/drawingml/2006/main" prst="roundRect">
            <a:avLst>
              <a:gd name="adj" fmla="val 136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63" name="图片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6f798fd6ef4081"/>
          <a:srcRect xmlns:a="http://schemas.openxmlformats.org/drawingml/2006/main" l="14137" t="0" r="1413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590550"/>
            <a:ext cx="5238750" cy="5181600"/>
          </a:xfrm>
          <a:prstGeom xmlns:a="http://schemas.openxmlformats.org/drawingml/2006/main" prst="roundRect">
            <a:avLst>
              <a:gd name="adj" fmla="val 2206"/>
            </a:avLst>
          </a:prstGeom>
        </p:spPr>
      </p:pic>
      <p:cxnSp>
        <p:nvCxnSpPr>
          <p:cNvPr id="64" name="直接箭头连接符 31"/>
          <p:cNvCxnSpPr/>
          <p:nvPr/>
        </p:nvCxnSpPr>
        <p:spPr>
          <a:xfrm xmlns:a="http://schemas.openxmlformats.org/drawingml/2006/main">
            <a:off x="457200" y="6343650"/>
            <a:ext cx="108394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36414244-4595-4795-81BE-E1F175A34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空间认知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71A3F326-F98A-459C-A859-984035CB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943243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BA437EE-2EA9-4B85-B92C-274F463D5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rPr>
              <a:t>基础实验 ⑥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2DB541B-2EF3-45E5-BCBF-8D83CC192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334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9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29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SLAM同时估计机器人位姿与环境地图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C871AE0-0233-4A82-BA4A-0B988368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81175"/>
            <a:ext cx="514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激光扫描负责匹配环境，里程计提供运动先验。</a:t>
            </a:r>
          </a:p>
        </p:txBody>
      </p:sp>
      <p:cxnSp>
        <p:nvCxnSpPr>
          <p:cNvPr id="53" name="直接箭头连接符 20"/>
          <p:cNvCxnSpPr/>
          <p:nvPr/>
        </p:nvCxnSpPr>
        <p:spPr>
          <a:xfrm xmlns:a="http://schemas.openxmlformats.org/drawingml/2006/main">
            <a:off x="457200" y="2686050"/>
            <a:ext cx="5143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21728BD-EFEE-4A8F-ACB2-A54FD505D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1465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rPr>
              <a:t>数据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DEC8FD9-C36C-4549-B8AD-367BAD26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14650"/>
            <a:ext cx="436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办公室756帧、实验室641帧；每帧180束360°激光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F2C5641-5A6A-4B72-8BAF-FEE89BDBD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4330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5F5BB61-7E34-4FA1-8F61-654BAFBE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43300"/>
            <a:ext cx="436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RMHC-SLAM维护位姿假设，并持续更新占据栅格地图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051660E-65F1-4AD7-8D71-0E4F6C35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7195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rPr>
              <a:t>结果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E64FC2B-70F3-4F55-AD15-D0F016CF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71950"/>
            <a:ext cx="436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融合里程计后覆盖面积提升4.7%与9.4%，速度超过270帧/秒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98DB8626-81B3-40CF-AEF6-2DE9CFFE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86375"/>
            <a:ext cx="1924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3D8D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3D8DFF"/>
                </a:solidFill>
                <a:latin typeface="微软雅黑"/>
                <a:ea typeface="微软雅黑"/>
                <a:cs typeface="微软雅黑"/>
              </a:rPr>
              <a:t>+9.4%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4C1CE354-0674-4FBA-B7AE-B892CFD3D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3911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复杂实验室场景的覆盖面积增益</a:t>
            </a:r>
          </a:p>
        </p:txBody>
      </p:sp>
      <p:sp>
        <p:nvSpPr>
          <p:cNvPr id="13" name="image-backing-⑥">
            <a:extLst xmlns:a="http://schemas.openxmlformats.org/drawingml/2006/main">
              <a:ext uri="{FF2B5EF4-FFF2-40B4-BE49-F238E27FC236}">
                <a16:creationId xmlns:a16="http://schemas.microsoft.com/office/drawing/2014/main" id="{3FE0FDED-242B-4F95-B119-F3DD691A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000"/>
            <a:ext cx="5619750" cy="5600700"/>
          </a:xfrm>
          <a:prstGeom xmlns:a="http://schemas.openxmlformats.org/drawingml/2006/main" prst="roundRect">
            <a:avLst>
              <a:gd name="adj" fmla="val 136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63" name="图片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5d4d265ead4bd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0325" y="590550"/>
            <a:ext cx="5181600" cy="5181600"/>
          </a:xfrm>
          <a:prstGeom xmlns:a="http://schemas.openxmlformats.org/drawingml/2006/main" prst="roundRect">
            <a:avLst>
              <a:gd name="adj" fmla="val 2206"/>
            </a:avLst>
          </a:prstGeom>
        </p:spPr>
      </p:pic>
      <p:cxnSp>
        <p:nvCxnSpPr>
          <p:cNvPr id="64" name="直接箭头连接符 31"/>
          <p:cNvCxnSpPr/>
          <p:nvPr/>
        </p:nvCxnSpPr>
        <p:spPr>
          <a:xfrm xmlns:a="http://schemas.openxmlformats.org/drawingml/2006/main">
            <a:off x="457200" y="6343650"/>
            <a:ext cx="108394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CDE99F15-D1C8-43F3-8BE8-2700952EB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空间认知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D524A3AA-6107-456D-BAEB-F1C3837A9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708206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849222D5-0BBD-454D-999A-0DA1EACF7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rPr>
              <a:t>基础实验 ②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7945A36-B2DA-45B4-8D75-F674DB44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334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9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29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多方向测距把瞬时距离变成未来碰撞概率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E623B94-8F6D-499B-8FB5-A3870B77A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81175"/>
            <a:ext cx="514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九向传感器与运动状态共同预测未来30帧是否碰撞。</a:t>
            </a:r>
          </a:p>
        </p:txBody>
      </p:sp>
      <p:cxnSp>
        <p:nvCxnSpPr>
          <p:cNvPr id="53" name="直接箭头连接符 20"/>
          <p:cNvCxnSpPr/>
          <p:nvPr/>
        </p:nvCxnSpPr>
        <p:spPr>
          <a:xfrm xmlns:a="http://schemas.openxmlformats.org/drawingml/2006/main">
            <a:off x="457200" y="2686050"/>
            <a:ext cx="5143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C5DF5FA-AFF1-40E1-B2FC-71299BE51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1465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rPr>
              <a:t>输入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47D929D-8B31-4331-B3EE-CFCE1139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14650"/>
            <a:ext cx="436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9个距离、线速度和角速度，共11维特征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D027C0D-FF36-4F84-AE16-7843AFBFE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4330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rPr>
              <a:t>模型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D853F26-7356-4CEE-9CB1-5E02C2984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43300"/>
            <a:ext cx="436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MLP二分类，标签表示未来30帧内是否发生碰撞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384729B-51C1-4293-95D6-B0AC8CD02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7195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rPr>
              <a:t>扩展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5B60D691-111C-4B4C-9AF1-AEA17487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71950"/>
            <a:ext cx="436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DQN决定何时避障；V3在500个未见回合中碰撞率1.20%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1E7C68C4-C15B-4046-ABC1-1F67249E0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86375"/>
            <a:ext cx="1924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3D8D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3D8DFF"/>
                </a:solidFill>
                <a:latin typeface="微软雅黑"/>
                <a:ea typeface="微软雅黑"/>
                <a:cs typeface="微软雅黑"/>
              </a:rPr>
              <a:t>83.65%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4CD58AA0-EBF8-4B78-8719-75233D8E5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3911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测试准确率；召回率84.08%</a:t>
            </a:r>
          </a:p>
        </p:txBody>
      </p:sp>
      <p:sp>
        <p:nvSpPr>
          <p:cNvPr id="13" name="image-backing-②">
            <a:extLst xmlns:a="http://schemas.openxmlformats.org/drawingml/2006/main">
              <a:ext uri="{FF2B5EF4-FFF2-40B4-BE49-F238E27FC236}">
                <a16:creationId xmlns:a16="http://schemas.microsoft.com/office/drawing/2014/main" id="{3FC97332-24CF-4CAE-A333-6D954215D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000"/>
            <a:ext cx="5619750" cy="5600700"/>
          </a:xfrm>
          <a:prstGeom xmlns:a="http://schemas.openxmlformats.org/drawingml/2006/main" prst="roundRect">
            <a:avLst>
              <a:gd name="adj" fmla="val 136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63" name="图片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4358f5d359469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1514475"/>
            <a:ext cx="5238750" cy="3333750"/>
          </a:xfrm>
          <a:prstGeom xmlns:a="http://schemas.openxmlformats.org/drawingml/2006/main" prst="roundRect">
            <a:avLst>
              <a:gd name="adj" fmla="val 2206"/>
            </a:avLst>
          </a:prstGeom>
        </p:spPr>
      </p:pic>
      <p:cxnSp>
        <p:nvCxnSpPr>
          <p:cNvPr id="64" name="直接箭头连接符 31"/>
          <p:cNvCxnSpPr/>
          <p:nvPr/>
        </p:nvCxnSpPr>
        <p:spPr>
          <a:xfrm xmlns:a="http://schemas.openxmlformats.org/drawingml/2006/main">
            <a:off x="457200" y="6343650"/>
            <a:ext cx="108394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7244EB85-271D-45B6-9A32-1BFF73FBC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预测与学习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808F4C57-701C-4398-9A87-8CA73B77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833578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DDC95908-B606-4F6D-A858-F94EFDD6B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rPr>
              <a:t>基础实验 ③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EFCE725-0D62-4194-BBE1-C9634AD0D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334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9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29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强化学习通过奖励试错学会保持平衡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8C213335-DE80-4A3E-9492-3541CD6C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81175"/>
            <a:ext cx="514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状态、动作与奖励把控制问题转化为策略学习。</a:t>
            </a:r>
          </a:p>
        </p:txBody>
      </p:sp>
      <p:cxnSp>
        <p:nvCxnSpPr>
          <p:cNvPr id="53" name="直接箭头连接符 20"/>
          <p:cNvCxnSpPr/>
          <p:nvPr/>
        </p:nvCxnSpPr>
        <p:spPr>
          <a:xfrm xmlns:a="http://schemas.openxmlformats.org/drawingml/2006/main">
            <a:off x="457200" y="2686050"/>
            <a:ext cx="5143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268C21E-469C-4736-A759-728F6DDF1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1465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rPr>
              <a:t>状态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FB9C1C0-9334-43D2-B216-0CD21266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14650"/>
            <a:ext cx="436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小车位置/速度、杆角度/角速度；动作是向左或向右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6CE3EF4-E5BF-46CE-952F-B5C87937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4330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rPr>
              <a:t>比较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9C86A64-6135-4119-815C-9C52C2E1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43300"/>
            <a:ext cx="436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3个训练种子；Q-Learning与多种DQN配置均做封存测试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AFC46F6-7645-4319-ACDD-3AD665718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7195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rPr>
              <a:t>发现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4F2AD28-C785-4E95-A96D-1E87163B9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71950"/>
            <a:ext cx="436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归一化是DQN最有效改动；状态分箱并非越细越好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DC3F989-81BC-4B4A-B11C-CA8274A3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86375"/>
            <a:ext cx="1924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3D8D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3D8DFF"/>
                </a:solidFill>
                <a:latin typeface="微软雅黑"/>
                <a:ea typeface="微软雅黑"/>
                <a:cs typeface="微软雅黑"/>
              </a:rPr>
              <a:t>91.67%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FB0FC90C-1397-42C6-8A88-C201B60DD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3911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Q-Learning Medium成功率；平均490.30步</a:t>
            </a:r>
          </a:p>
        </p:txBody>
      </p:sp>
      <p:sp>
        <p:nvSpPr>
          <p:cNvPr id="13" name="image-backing-③">
            <a:extLst xmlns:a="http://schemas.openxmlformats.org/drawingml/2006/main">
              <a:ext uri="{FF2B5EF4-FFF2-40B4-BE49-F238E27FC236}">
                <a16:creationId xmlns:a16="http://schemas.microsoft.com/office/drawing/2014/main" id="{E17A8DEE-5F4D-4109-96E8-957D54B3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000"/>
            <a:ext cx="5619750" cy="5600700"/>
          </a:xfrm>
          <a:prstGeom xmlns:a="http://schemas.openxmlformats.org/drawingml/2006/main" prst="roundRect">
            <a:avLst>
              <a:gd name="adj" fmla="val 136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63" name="图片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7e21e0ccb043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2011926"/>
            <a:ext cx="5238750" cy="2338848"/>
          </a:xfrm>
          <a:prstGeom xmlns:a="http://schemas.openxmlformats.org/drawingml/2006/main" prst="roundRect">
            <a:avLst>
              <a:gd name="adj" fmla="val 2206"/>
            </a:avLst>
          </a:prstGeom>
        </p:spPr>
      </p:pic>
      <p:cxnSp>
        <p:nvCxnSpPr>
          <p:cNvPr id="64" name="直接箭头连接符 31"/>
          <p:cNvCxnSpPr/>
          <p:nvPr/>
        </p:nvCxnSpPr>
        <p:spPr>
          <a:xfrm xmlns:a="http://schemas.openxmlformats.org/drawingml/2006/main">
            <a:off x="457200" y="6343650"/>
            <a:ext cx="108394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EAC659C8-8A48-42B8-BE6F-1659CFEC4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预测与学习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E67EC164-BD4E-41EF-AEA1-4BA7D4CD4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117454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DAA77249-82C7-4F2A-B861-47726D37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rPr>
              <a:t>基础实验 ⑤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BCAF1EA5-CBA9-49AF-A3D9-47E484653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334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9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29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模仿学习从专家示范开始，但必须面对分布偏移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44F0CAA-CA96-49C4-9623-06A31BB46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81175"/>
            <a:ext cx="514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行为克隆学习专家动作，DAgger再收集策略真正访问的状态。</a:t>
            </a:r>
          </a:p>
        </p:txBody>
      </p:sp>
      <p:cxnSp>
        <p:nvCxnSpPr>
          <p:cNvPr id="53" name="直接箭头连接符 20"/>
          <p:cNvCxnSpPr/>
          <p:nvPr/>
        </p:nvCxnSpPr>
        <p:spPr>
          <a:xfrm xmlns:a="http://schemas.openxmlformats.org/drawingml/2006/main">
            <a:off x="457200" y="2686050"/>
            <a:ext cx="5143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79301885-3893-4AC2-AC9C-E17080345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1465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rPr>
              <a:t>BC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335561C3-49FE-40D9-BA47-7E30FE997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14650"/>
            <a:ext cx="436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把状态到专家动作的映射当作监督学习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95311BC-6664-4CC7-84AB-8457A9F80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4330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rPr>
              <a:t>问题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28955E4-E8D4-4C5C-B555-417192DC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43300"/>
            <a:ext cx="436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策略一旦犯错，就会进入专家数据没有覆盖的新状态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AA0D6FA-2182-409D-B9CF-6AAFAF84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7195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rPr>
              <a:t>DAgger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0AE1600-A675-4765-A3D0-5CC70B6DC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71950"/>
            <a:ext cx="436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滚动执行当前策略，请专家标注新状态并迭代聚合数据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D80336C0-B737-4707-8D63-6CC9DF908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86375"/>
            <a:ext cx="1924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772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3D8D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3D8DFF"/>
                </a:solidFill>
                <a:latin typeface="微软雅黑"/>
                <a:ea typeface="微软雅黑"/>
                <a:cs typeface="微软雅黑"/>
              </a:rPr>
              <a:t>20% → 100%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A0DEC69F-B502-4536-907D-0A2ED734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3911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CartPole闭环成功率；80个评估回合</a:t>
            </a:r>
          </a:p>
        </p:txBody>
      </p:sp>
      <p:sp>
        <p:nvSpPr>
          <p:cNvPr id="13" name="image-backing-⑤">
            <a:extLst xmlns:a="http://schemas.openxmlformats.org/drawingml/2006/main">
              <a:ext uri="{FF2B5EF4-FFF2-40B4-BE49-F238E27FC236}">
                <a16:creationId xmlns:a16="http://schemas.microsoft.com/office/drawing/2014/main" id="{DC40764F-77BA-4540-B201-256C7D03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000"/>
            <a:ext cx="5619750" cy="5600700"/>
          </a:xfrm>
          <a:prstGeom xmlns:a="http://schemas.openxmlformats.org/drawingml/2006/main" prst="roundRect">
            <a:avLst>
              <a:gd name="adj" fmla="val 136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63" name="图片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c40bc42b9e41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2179154"/>
            <a:ext cx="5238750" cy="2004391"/>
          </a:xfrm>
          <a:prstGeom xmlns:a="http://schemas.openxmlformats.org/drawingml/2006/main" prst="roundRect">
            <a:avLst>
              <a:gd name="adj" fmla="val 2206"/>
            </a:avLst>
          </a:prstGeom>
        </p:spPr>
      </p:pic>
      <p:cxnSp>
        <p:nvCxnSpPr>
          <p:cNvPr id="64" name="直接箭头连接符 31"/>
          <p:cNvCxnSpPr/>
          <p:nvPr/>
        </p:nvCxnSpPr>
        <p:spPr>
          <a:xfrm xmlns:a="http://schemas.openxmlformats.org/drawingml/2006/main">
            <a:off x="457200" y="6343650"/>
            <a:ext cx="108394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77A933AF-9772-4763-A808-823F6823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预测与学习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2F0CEA7E-4DAA-4E7F-BCAE-E04F2D72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0017555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74B81248-74E9-424D-9644-5A0FF88E5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rPr>
              <a:t>基础实验 ⑧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AF6AA57-EC75-4015-8AE2-891F5DFF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334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9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29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端到端驾驶把相机图像直接映射为转向控制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480BCC7-9D56-4762-99B3-4EA9A8A3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81175"/>
            <a:ext cx="514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CNN不显式拆分车道检测与规划，而是直接回归方向盘角度。</a:t>
            </a:r>
          </a:p>
        </p:txBody>
      </p:sp>
      <p:cxnSp>
        <p:nvCxnSpPr>
          <p:cNvPr id="53" name="直接箭头连接符 20"/>
          <p:cNvCxnSpPr/>
          <p:nvPr/>
        </p:nvCxnSpPr>
        <p:spPr>
          <a:xfrm xmlns:a="http://schemas.openxmlformats.org/drawingml/2006/main">
            <a:off x="457200" y="2686050"/>
            <a:ext cx="5143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C2B5DE5-2701-4D36-98D1-21A2FDB78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1465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rPr>
              <a:t>数据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B26FDDA-7C61-4ABB-8A95-45D8B3853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14650"/>
            <a:ext cx="436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7698条三相机记录；6158训练、1540验证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6E6A5F7-6920-487C-B2CC-2B37141F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4330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rPr>
              <a:t>网络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04A8CC0-EE5D-4B03-9C4B-F127DBF8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43300"/>
            <a:ext cx="436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32×128图像输入，卷积特征后回归连续转角，共972225个参数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1CA08CC-6703-41A7-AB61-12CD22A25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7195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rPr>
              <a:t>边界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F3A490E6-014C-4A08-860C-EDFB518D2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71950"/>
            <a:ext cx="436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已验证模型与损失记录；原始数据不在仓库，闭环成功率未报告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A94D6985-6559-457B-82E2-B4615F74F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86375"/>
            <a:ext cx="1924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3D8D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3D8DFF"/>
                </a:solidFill>
                <a:latin typeface="微软雅黑"/>
                <a:ea typeface="微软雅黑"/>
                <a:cs typeface="微软雅黑"/>
              </a:rPr>
              <a:t>0.0144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21F001AB-6560-4756-8A1B-D8B975ED4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3911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最终验证MSE，训练30轮</a:t>
            </a:r>
          </a:p>
        </p:txBody>
      </p:sp>
      <p:sp>
        <p:nvSpPr>
          <p:cNvPr id="13" name="image-backing-⑧">
            <a:extLst xmlns:a="http://schemas.openxmlformats.org/drawingml/2006/main">
              <a:ext uri="{FF2B5EF4-FFF2-40B4-BE49-F238E27FC236}">
                <a16:creationId xmlns:a16="http://schemas.microsoft.com/office/drawing/2014/main" id="{38580312-C787-40B0-B130-2CC2C06F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000"/>
            <a:ext cx="5619750" cy="5600700"/>
          </a:xfrm>
          <a:prstGeom xmlns:a="http://schemas.openxmlformats.org/drawingml/2006/main" prst="roundRect">
            <a:avLst>
              <a:gd name="adj" fmla="val 136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63" name="图片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5dd4d22d4a4d41"/>
          <a:srcRect xmlns:a="http://schemas.openxmlformats.org/drawingml/2006/main" l="21607" t="0" r="2160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590550"/>
            <a:ext cx="5238750" cy="5181600"/>
          </a:xfrm>
          <a:prstGeom xmlns:a="http://schemas.openxmlformats.org/drawingml/2006/main" prst="roundRect">
            <a:avLst>
              <a:gd name="adj" fmla="val 2206"/>
            </a:avLst>
          </a:prstGeom>
        </p:spPr>
      </p:pic>
      <p:cxnSp>
        <p:nvCxnSpPr>
          <p:cNvPr id="64" name="直接箭头连接符 31"/>
          <p:cNvCxnSpPr/>
          <p:nvPr/>
        </p:nvCxnSpPr>
        <p:spPr>
          <a:xfrm xmlns:a="http://schemas.openxmlformats.org/drawingml/2006/main">
            <a:off x="457200" y="6343650"/>
            <a:ext cx="108394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A1C84E2B-EC6D-404B-B9CA-FD32D64C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预测与学习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8DCD743-D193-4135-9155-06AED2F9A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5682796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A4338768-EE08-4132-987E-06D62CFAB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rPr>
              <a:t>基础实验 ⑨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A9A2BA4-F7B7-4859-A3D5-1507AF0E5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334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9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29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实验⑨：让 SO-101 到达指定末端位姿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DD72D67-71EB-4F1F-9571-B35EBFB1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81175"/>
            <a:ext cx="514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任务不仅是求出关节角，还要让参数不准的低成本机械臂真正到位。</a:t>
            </a:r>
          </a:p>
        </p:txBody>
      </p:sp>
      <p:cxnSp>
        <p:nvCxnSpPr>
          <p:cNvPr id="53" name="直接箭头连接符 20"/>
          <p:cNvCxnSpPr/>
          <p:nvPr/>
        </p:nvCxnSpPr>
        <p:spPr>
          <a:xfrm xmlns:a="http://schemas.openxmlformats.org/drawingml/2006/main">
            <a:off x="457200" y="2686050"/>
            <a:ext cx="5143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99618927-655A-4DF2-AA97-C9C2B0E7B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1465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rPr>
              <a:t>对象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AB2D4D18-173C-472F-9F63-72BFD907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14650"/>
            <a:ext cx="436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SO-101：6个舵机，前5关节参与IK，末端带98 mm把手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9145B3D-7CDA-42D5-B503-4E9EBE085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4330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rPr>
              <a:t>数据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77F891A-9F03-49E8-9A01-F79A12B00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43300"/>
            <a:ext cx="436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真机采集600组关节角，形成覆盖安全工作空间的数据集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C04CF37-C465-4B7D-B2A9-0ABBBBD2A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7195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1BD3CDCC-80EC-44A7-B2D9-5A949ED4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71950"/>
            <a:ext cx="436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比较解析、数值、神经和混合IK，并在真机闭环验证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1F474AEC-EC0C-4272-A5EB-8EB14C296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86375"/>
            <a:ext cx="1924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3D8D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3D8DFF"/>
                </a:solidFill>
                <a:latin typeface="微软雅黑"/>
                <a:ea typeface="微软雅黑"/>
                <a:cs typeface="微软雅黑"/>
              </a:rPr>
              <a:t>5-DoF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77018C4A-A22D-42C5-9C26-D28EBA253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3911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任务空间(x,y,z,α,ψ) → 关节角q1…q5</a:t>
            </a:r>
          </a:p>
        </p:txBody>
      </p:sp>
      <p:sp>
        <p:nvSpPr>
          <p:cNvPr id="13" name="image-backing-⑨">
            <a:extLst xmlns:a="http://schemas.openxmlformats.org/drawingml/2006/main">
              <a:ext uri="{FF2B5EF4-FFF2-40B4-BE49-F238E27FC236}">
                <a16:creationId xmlns:a16="http://schemas.microsoft.com/office/drawing/2014/main" id="{6381D5F5-0732-44E9-BF1C-B554A38DD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000"/>
            <a:ext cx="5619750" cy="5600700"/>
          </a:xfrm>
          <a:prstGeom xmlns:a="http://schemas.openxmlformats.org/drawingml/2006/main" prst="roundRect">
            <a:avLst>
              <a:gd name="adj" fmla="val 136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63" name="图片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0efce8ad1c40fc"/>
          <a:stretch xmlns:a="http://schemas.openxmlformats.org/drawingml/2006/main"/>
        </p:blipFill>
        <p:spPr>
          <a:xfrm xmlns:a="http://schemas.openxmlformats.org/drawingml/2006/main" flipH="0" flipV="0">
            <a:off x="6381750" y="1515407"/>
            <a:ext cx="5238750" cy="3331886"/>
          </a:xfrm>
          <a:prstGeom xmlns:a="http://schemas.openxmlformats.org/drawingml/2006/main" prst="roundRect">
            <a:avLst/>
          </a:prstGeom>
        </p:spPr>
      </p:pic>
      <p:cxnSp>
        <p:nvCxnSpPr>
          <p:cNvPr id="64" name="直接箭头连接符 31"/>
          <p:cNvCxnSpPr/>
          <p:nvPr/>
        </p:nvCxnSpPr>
        <p:spPr>
          <a:xfrm xmlns:a="http://schemas.openxmlformats.org/drawingml/2006/main">
            <a:off x="457200" y="6343650"/>
            <a:ext cx="108394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A6AFB2A6-AD0A-47F4-BF70-504141795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动作执行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732E71D3-F014-40A2-9B63-0FEB0C01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8967637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396CB61F-11A3-40C6-83CC-D27BB21D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081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29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实验⑨的方法链：先求解，再用真实反馈消除偏差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3B3EA0B-0826-45D7-BEFA-1574C6340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rPr>
              <a:t>逆运动学求解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5E55AC3E-EE01-4752-BD60-C2175C4A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909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24A36A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4A36A"/>
                </a:solidFill>
                <a:latin typeface="微软雅黑"/>
                <a:ea typeface="微软雅黑"/>
                <a:cs typeface="微软雅黑"/>
              </a:rPr>
              <a:t>真机反馈补偿</a:t>
            </a:r>
          </a:p>
        </p:txBody>
      </p:sp>
      <p:sp>
        <p:nvSpPr>
          <p:cNvPr id="4" name="右箭头 3">
            <a:extLst xmlns:a="http://schemas.openxmlformats.org/drawingml/2006/main">
              <a:ext uri="{FF2B5EF4-FFF2-40B4-BE49-F238E27FC236}">
                <a16:creationId xmlns:a16="http://schemas.microsoft.com/office/drawing/2014/main" id="{F35B5934-C076-47F0-A423-ABFB399E0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152650"/>
            <a:ext cx="42862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右箭头 4">
            <a:extLst xmlns:a="http://schemas.openxmlformats.org/drawingml/2006/main">
              <a:ext uri="{FF2B5EF4-FFF2-40B4-BE49-F238E27FC236}">
                <a16:creationId xmlns:a16="http://schemas.microsoft.com/office/drawing/2014/main" id="{C5FDCA54-24F9-4E56-9217-5EEB8EF6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152650"/>
            <a:ext cx="42862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右箭头 5">
            <a:extLst xmlns:a="http://schemas.openxmlformats.org/drawingml/2006/main">
              <a:ext uri="{FF2B5EF4-FFF2-40B4-BE49-F238E27FC236}">
                <a16:creationId xmlns:a16="http://schemas.microsoft.com/office/drawing/2014/main" id="{D7C1A195-5D3D-4246-9F5A-5CED32459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52650"/>
            <a:ext cx="42862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右箭头 6">
            <a:extLst xmlns:a="http://schemas.openxmlformats.org/drawingml/2006/main">
              <a:ext uri="{FF2B5EF4-FFF2-40B4-BE49-F238E27FC236}">
                <a16:creationId xmlns:a16="http://schemas.microsoft.com/office/drawing/2014/main" id="{E7628E66-F846-452D-BC90-19BB1F036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229100"/>
            <a:ext cx="42862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7E3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右箭头 7">
            <a:extLst xmlns:a="http://schemas.openxmlformats.org/drawingml/2006/main">
              <a:ext uri="{FF2B5EF4-FFF2-40B4-BE49-F238E27FC236}">
                <a16:creationId xmlns:a16="http://schemas.microsoft.com/office/drawing/2014/main" id="{5C5A85CA-08AB-46CF-A8AB-9376F216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229100"/>
            <a:ext cx="42862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7E3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CF61002C-6FBD-44C1-AB6C-3A461F47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71650"/>
            <a:ext cx="2095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B40F947-7722-409B-B1A8-1A82B10A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4310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目标位姿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D541AE11-A90B-413D-BD62-D5CA6AE6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4315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(x, y, z, α, ψ)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15B5F1D9-3405-482F-BFFA-CF7CAF1BD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771650"/>
            <a:ext cx="2095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19050">
            <a:solidFill>
              <a:srgbClr val="F59E0B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78E39CB5-12FC-4642-859F-0E5615148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94310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四类求解器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1BD5D667-E119-455B-96FD-E18C1D95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34315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解析 / 数值 / NN / 混合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67D5ABDC-5F9D-4EF7-B5F4-8632C9202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771650"/>
            <a:ext cx="2095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19050">
            <a:solidFill>
              <a:srgbClr val="7C6FF2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23651EFA-49E2-4285-8A76-F5D09282B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4310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安全约束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A8B0FF2-772F-4784-979F-9246D940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4315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tanh限位 + 路径检查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DF308A8F-4BD4-44DF-9348-DC04C391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71650"/>
            <a:ext cx="2095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19050">
            <a:solidFill>
              <a:srgbClr val="24A36A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92364D4C-C7E6-4680-B781-13DA16EA9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94310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开环命令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96FE7D80-35B6-422E-8C6E-7B6A7C20E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34315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发送 q_target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6139F4F4-6E3E-4C24-B2B0-FF78BF17D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48100"/>
            <a:ext cx="2095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01E1D5F5-6CA4-4F78-A0D9-D967E805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1955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编码器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1F3103E9-8A9B-4D70-BAD1-86C8F3628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41960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读取 q_actual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53EC1125-FC4E-48C4-A52D-E6850C78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848100"/>
            <a:ext cx="2095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19050">
            <a:solidFill>
              <a:srgbClr val="7C6FF2"/>
            </a:solidFill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84F10E09-40A7-4261-B90B-66D2961FB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01955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残差更新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B7D231C7-8FDE-4E72-9016-8F6A621C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41960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q_cmd += 0.8·Δq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6085EB6A-BE8C-4674-BCCD-1017993CA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48100"/>
            <a:ext cx="2095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19050">
            <a:solidFill>
              <a:srgbClr val="24A36A"/>
            </a:solidFill>
            <a:prstDash val="solid"/>
          </a:ln>
        </p:spPr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30130191-CD68-4461-9DC6-2D080BCC8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01955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收敛输出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869411A6-F44E-4037-A00E-358B4F0DC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41960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平均33.56 → 3.96 mm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1CE7D96F-9EEC-4528-B558-6E5567536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14950"/>
            <a:ext cx="10896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DBFEDC3D-0DC9-479D-B934-A4552EB24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rPr>
              <a:t>核心公式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1D47C489-C192-473F-B647-0FBAF42FB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50545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q_cmd ← q_cmd + 0.8(q_target − q_actual)，循环至关节残差进入阈值</a:t>
            </a:r>
          </a:p>
        </p:txBody>
      </p:sp>
      <p:cxnSp>
        <p:nvCxnSpPr>
          <p:cNvPr id="134" name="直接箭头连接符 67"/>
          <p:cNvCxnSpPr/>
          <p:nvPr/>
        </p:nvCxnSpPr>
        <p:spPr>
          <a:xfrm xmlns:a="http://schemas.openxmlformats.org/drawingml/2006/main">
            <a:off x="457200" y="6343650"/>
            <a:ext cx="108394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221778D2-E484-435C-8EA7-9AEDE6259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实验九重点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8A786713-C488-469B-9E5E-723989A9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91221855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8EF55991-7226-46BA-B4B9-088BA929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rPr>
              <a:t>实验⑨ · 重点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A656DA62-911C-4E16-90CC-AADA056F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334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9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29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四种IK各有精度与速度取舍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EF642D3-560D-4C7A-A8C6-465A33DBE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81175"/>
            <a:ext cx="514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同一批50个目标点、远初值测试：精度、速度和参数依赖形成明确取舍。</a:t>
            </a:r>
          </a:p>
        </p:txBody>
      </p:sp>
      <p:cxnSp>
        <p:nvCxnSpPr>
          <p:cNvPr id="53" name="直接箭头连接符 20"/>
          <p:cNvCxnSpPr/>
          <p:nvPr/>
        </p:nvCxnSpPr>
        <p:spPr>
          <a:xfrm xmlns:a="http://schemas.openxmlformats.org/drawingml/2006/main">
            <a:off x="457200" y="2686050"/>
            <a:ext cx="5143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D5C20BC-B291-43FA-B743-E74B528BE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1465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rPr>
              <a:t>解析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C7C9668-CC4A-414A-A83D-77F70023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14650"/>
            <a:ext cx="436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4/50成功，243.5 mm；0.015 ms，但参数不准就失效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FBF364B-0143-4BE0-8BB1-8A1A8C18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4330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rPr>
              <a:t>数值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889718A-6748-4133-90D8-C24DC26C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43300"/>
            <a:ext cx="436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49/50成功，0.89 mm；28.35 ms，精度最高但计算慢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E585151-F197-4210-A344-12F91A11D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7195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rPr>
              <a:t>NN/混合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94E47C9-58D0-4020-B39E-78060A9F7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71950"/>
            <a:ext cx="436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NN为17.24 mm/0.69 ms；3步混合为14.59 mm/5.44 ms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13C2F31-E416-4F8F-A1FB-8213B6E29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86375"/>
            <a:ext cx="1924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3D8D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3D8DFF"/>
                </a:solidFill>
                <a:latin typeface="微软雅黑"/>
                <a:ea typeface="微软雅黑"/>
                <a:cs typeface="微软雅黑"/>
              </a:rPr>
              <a:t>≈1,800×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6216D097-08FF-4E4D-ABD5-0E149CB10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3911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解析法与数值法的求解时间差；混合步数可调</a:t>
            </a:r>
          </a:p>
        </p:txBody>
      </p:sp>
      <p:sp>
        <p:nvSpPr>
          <p:cNvPr id="13" name="image-backing-①">
            <a:extLst xmlns:a="http://schemas.openxmlformats.org/drawingml/2006/main">
              <a:ext uri="{FF2B5EF4-FFF2-40B4-BE49-F238E27FC236}">
                <a16:creationId xmlns:a16="http://schemas.microsoft.com/office/drawing/2014/main" id="{2FE0544B-0802-4C80-B3E1-8D80AB78C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000"/>
            <a:ext cx="5619750" cy="5600700"/>
          </a:xfrm>
          <a:prstGeom xmlns:a="http://schemas.openxmlformats.org/drawingml/2006/main" prst="roundRect">
            <a:avLst>
              <a:gd name="adj" fmla="val 136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cxnSp>
        <p:nvCxnSpPr>
          <p:cNvPr id="63" name="直接箭头连接符 31"/>
          <p:cNvCxnSpPr/>
          <p:nvPr/>
        </p:nvCxnSpPr>
        <p:spPr>
          <a:xfrm xmlns:a="http://schemas.openxmlformats.org/drawingml/2006/main">
            <a:off x="457200" y="6343650"/>
            <a:ext cx="108394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779A8859-9AB4-41DC-A4C4-1A11D3DF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实验九重点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0385C475-E907-4AFF-BEB0-707D1192C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d038e172a7496b"/>
          <a:stretch xmlns:a="http://schemas.openxmlformats.org/drawingml/2006/main"/>
        </p:blipFill>
        <p:spPr>
          <a:xfrm xmlns:a="http://schemas.openxmlformats.org/drawingml/2006/main" flipH="0" flipV="0">
            <a:off x="6381750" y="2067042"/>
            <a:ext cx="5238750" cy="2228616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19151572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C5EEFE5A-A7A9-4116-9C65-94F6A471C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rPr>
              <a:t>实验⑨ · 重点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BD2B5D64-165A-47CD-A2AD-65F5A032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334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9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29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真机开环卡在36 mm误差地板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80DA43F3-5308-47C0-BA7F-A2F04360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81175"/>
            <a:ext cx="514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同一批5个目标点统一验证：软件差异明显，进入真机后却落在同一误差地板。</a:t>
            </a:r>
          </a:p>
        </p:txBody>
      </p:sp>
      <p:cxnSp>
        <p:nvCxnSpPr>
          <p:cNvPr id="53" name="直接箭头连接符 20"/>
          <p:cNvCxnSpPr/>
          <p:nvPr/>
        </p:nvCxnSpPr>
        <p:spPr>
          <a:xfrm xmlns:a="http://schemas.openxmlformats.org/drawingml/2006/main">
            <a:off x="457200" y="2686050"/>
            <a:ext cx="5143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92197087-4231-4143-8914-3A1F2D496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1465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rPr>
              <a:t>数值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A2736AC2-6A55-4F05-A1B1-35157E0DC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14650"/>
            <a:ext cx="436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软件0.90 mm → 真机35.59 mm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2F60577-D9FB-4164-AF8C-CDDCDB42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4330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rPr>
              <a:t>神经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4B59029-563B-4BA6-8F7C-C5C44B4F1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43300"/>
            <a:ext cx="436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软件15.15 mm → 真机35.94 mm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A1B340A5-370F-4FF9-AC64-CA27494F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7195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rPr>
              <a:t>混合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FBB74FD-1CAB-4056-9949-076AA9E0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71950"/>
            <a:ext cx="436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软件5.09 mm → 真机36.04 mm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A51E1AEC-4230-4C28-994E-DA4AFFEE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86375"/>
            <a:ext cx="1924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3D8D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3D8DFF"/>
                </a:solidFill>
                <a:latin typeface="微软雅黑"/>
                <a:ea typeface="微软雅黑"/>
                <a:cs typeface="微软雅黑"/>
              </a:rPr>
              <a:t>≈36 mm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170821C8-7712-4B63-888F-D35F5E8E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3911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重力下垂、齿隙和3D打印公差主导真机误差</a:t>
            </a:r>
          </a:p>
        </p:txBody>
      </p:sp>
      <p:sp>
        <p:nvSpPr>
          <p:cNvPr id="13" name="image-backing-⑦">
            <a:extLst xmlns:a="http://schemas.openxmlformats.org/drawingml/2006/main">
              <a:ext uri="{FF2B5EF4-FFF2-40B4-BE49-F238E27FC236}">
                <a16:creationId xmlns:a16="http://schemas.microsoft.com/office/drawing/2014/main" id="{CB5906CD-996B-43D1-808A-D22C2C547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000"/>
            <a:ext cx="5619750" cy="5600700"/>
          </a:xfrm>
          <a:prstGeom xmlns:a="http://schemas.openxmlformats.org/drawingml/2006/main" prst="roundRect">
            <a:avLst>
              <a:gd name="adj" fmla="val 136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cxnSp>
        <p:nvCxnSpPr>
          <p:cNvPr id="63" name="直接箭头连接符 31"/>
          <p:cNvCxnSpPr/>
          <p:nvPr/>
        </p:nvCxnSpPr>
        <p:spPr>
          <a:xfrm xmlns:a="http://schemas.openxmlformats.org/drawingml/2006/main">
            <a:off x="457200" y="6343650"/>
            <a:ext cx="108394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C25DBA53-DFEF-4FED-8F5F-84F1954A9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实验九重点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D84B9AEB-CEF0-4FE8-9284-2145B0B1A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b078208eb448e5"/>
          <a:stretch xmlns:a="http://schemas.openxmlformats.org/drawingml/2006/main"/>
        </p:blipFill>
        <p:spPr>
          <a:xfrm xmlns:a="http://schemas.openxmlformats.org/drawingml/2006/main" flipH="0" flipV="0">
            <a:off x="6381750" y="1507174"/>
            <a:ext cx="5238750" cy="3348352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09941991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E4417286-E3D3-4AA1-B0B9-F1D7AD1C4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rPr>
              <a:t>实验⑨ · 重点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F6E2095-637E-439B-8C39-5AD9C43A3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334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9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29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关节闭环让平均误差下降88%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88A587F-5448-4D3D-8947-3B7CCBF26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81175"/>
            <a:ext cx="514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不用相机，只用舵机编码器读回实际关节角，并逐轮补偿命令残差。</a:t>
            </a:r>
          </a:p>
        </p:txBody>
      </p:sp>
      <p:cxnSp>
        <p:nvCxnSpPr>
          <p:cNvPr id="53" name="直接箭头连接符 20"/>
          <p:cNvCxnSpPr/>
          <p:nvPr/>
        </p:nvCxnSpPr>
        <p:spPr>
          <a:xfrm xmlns:a="http://schemas.openxmlformats.org/drawingml/2006/main">
            <a:off x="457200" y="2686050"/>
            <a:ext cx="5143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E9922D2-35B7-4385-A4F5-038FDE2AF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1465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C455B11-A538-4B08-87F3-6374588BA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14650"/>
            <a:ext cx="436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IK给出q_target，执行后编码器读取q_actual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63DD29A-9FF9-40BB-B9A8-5ED57554A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4330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rPr>
              <a:t>更新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4B283385-FD36-4B4B-BBE1-3B25753A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43300"/>
            <a:ext cx="436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q_cmd ← q_cmd + 0.8(q_target − q_actual)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DCC865F-B390-47E2-9D4E-1E2AE8B13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7195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rPr>
              <a:t>收敛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F3AA961-3D94-406F-B48E-8CB842A1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71950"/>
            <a:ext cx="436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5个测试点最多5轮；最终误差1.0–9.9 mm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24A0724-2C83-4543-B0EF-759CE1F1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86375"/>
            <a:ext cx="1924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3D8D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3D8DFF"/>
                </a:solidFill>
                <a:latin typeface="微软雅黑"/>
                <a:ea typeface="微软雅黑"/>
                <a:cs typeface="微软雅黑"/>
              </a:rPr>
              <a:t>88%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B7CA4F4F-91B7-43BB-B8FD-1C506B3C7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3911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平均位置误差下降；5个测试点全部改善</a:t>
            </a:r>
          </a:p>
        </p:txBody>
      </p:sp>
      <p:sp>
        <p:nvSpPr>
          <p:cNvPr id="13" name="image-backing-④">
            <a:extLst xmlns:a="http://schemas.openxmlformats.org/drawingml/2006/main">
              <a:ext uri="{FF2B5EF4-FFF2-40B4-BE49-F238E27FC236}">
                <a16:creationId xmlns:a16="http://schemas.microsoft.com/office/drawing/2014/main" id="{DABB328D-DC88-400E-A8F5-DE53DE96D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000"/>
            <a:ext cx="5619750" cy="5600700"/>
          </a:xfrm>
          <a:prstGeom xmlns:a="http://schemas.openxmlformats.org/drawingml/2006/main" prst="roundRect">
            <a:avLst>
              <a:gd name="adj" fmla="val 136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cxnSp>
        <p:nvCxnSpPr>
          <p:cNvPr id="63" name="直接箭头连接符 31"/>
          <p:cNvCxnSpPr/>
          <p:nvPr/>
        </p:nvCxnSpPr>
        <p:spPr>
          <a:xfrm xmlns:a="http://schemas.openxmlformats.org/drawingml/2006/main">
            <a:off x="457200" y="6343650"/>
            <a:ext cx="108394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36414244-4595-4795-81BE-E1F175A34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实验九重点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71A3F326-F98A-459C-A859-984035CB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bf91d5af274cf4"/>
          <a:stretch xmlns:a="http://schemas.openxmlformats.org/drawingml/2006/main"/>
        </p:blipFill>
        <p:spPr>
          <a:xfrm xmlns:a="http://schemas.openxmlformats.org/drawingml/2006/main" flipH="0" flipV="0">
            <a:off x="6381750" y="1300103"/>
            <a:ext cx="5238750" cy="3762494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79432438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BA437EE-2EA9-4B85-B92C-274F463D5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rPr>
              <a:t>实验⑨ · 重点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2DB541B-2EF3-45E5-BCBF-8D83CC192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334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9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29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成果演示：精准推落物块，瓶体保持稳定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C871AE0-0233-4A82-BA4A-0B988368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81175"/>
            <a:ext cx="514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机械臂从接触点A沿安全轨迹抬升到B，只推物块并保持瓶体稳定。</a:t>
            </a:r>
          </a:p>
        </p:txBody>
      </p:sp>
      <p:cxnSp>
        <p:nvCxnSpPr>
          <p:cNvPr id="53" name="直接箭头连接符 20"/>
          <p:cNvCxnSpPr/>
          <p:nvPr/>
        </p:nvCxnSpPr>
        <p:spPr>
          <a:xfrm xmlns:a="http://schemas.openxmlformats.org/drawingml/2006/main">
            <a:off x="457200" y="2686050"/>
            <a:ext cx="5143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21728BD-EFEE-4A8F-ACB2-A54FD505D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1465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rPr>
              <a:t>示教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DEC8FD9-C36C-4549-B8AD-367BAD26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14650"/>
            <a:ext cx="436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手动记录28个轨迹点，平滑后生成连续关节轨迹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F2C5641-5A6A-4B72-8BAF-FEE89BDBD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4330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rPr>
              <a:t>安全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5F5BB61-7E34-4FA1-8F61-654BAFBE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43300"/>
            <a:ext cx="436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全路径检查真实把手高度，Z≥192 mm才允许执行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051660E-65F1-4AD7-8D71-0E4F6C35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7195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rPr>
              <a:t>效果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E64FC2B-70F3-4F55-AD15-D0F016CF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71950"/>
            <a:ext cx="436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物块被推落、瓶体保持稳定，验证到位与轨迹精度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98DB8626-81B3-40CF-AEF6-2DE9CFFE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86375"/>
            <a:ext cx="1924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3D8D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3D8DFF"/>
                </a:solidFill>
                <a:latin typeface="微软雅黑"/>
                <a:ea typeface="微软雅黑"/>
                <a:cs typeface="微软雅黑"/>
              </a:rPr>
              <a:t>4.0 mm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4C1CE354-0674-4FBA-B7AE-B892CFD3D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3911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闭环平均误差，支撑接触式操作任务</a:t>
            </a:r>
          </a:p>
        </p:txBody>
      </p:sp>
      <p:sp>
        <p:nvSpPr>
          <p:cNvPr id="13" name="image-backing-⑥">
            <a:extLst xmlns:a="http://schemas.openxmlformats.org/drawingml/2006/main">
              <a:ext uri="{FF2B5EF4-FFF2-40B4-BE49-F238E27FC236}">
                <a16:creationId xmlns:a16="http://schemas.microsoft.com/office/drawing/2014/main" id="{3FE0FDED-242B-4F95-B119-F3DD691A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000"/>
            <a:ext cx="5619750" cy="5600700"/>
          </a:xfrm>
          <a:prstGeom xmlns:a="http://schemas.openxmlformats.org/drawingml/2006/main" prst="roundRect">
            <a:avLst>
              <a:gd name="adj" fmla="val 136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cxnSp>
        <p:nvCxnSpPr>
          <p:cNvPr id="63" name="直接箭头连接符 31"/>
          <p:cNvCxnSpPr/>
          <p:nvPr/>
        </p:nvCxnSpPr>
        <p:spPr>
          <a:xfrm xmlns:a="http://schemas.openxmlformats.org/drawingml/2006/main">
            <a:off x="457200" y="6343650"/>
            <a:ext cx="108394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CDE99F15-D1C8-43F3-8BE8-2700952EB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实验九重点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D524A3AA-6107-456D-BAEB-F1C3837A9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77d1f2d5df4f38"/>
          <a:stretch xmlns:a="http://schemas.openxmlformats.org/drawingml/2006/main"/>
        </p:blipFill>
        <p:spPr>
          <a:xfrm xmlns:a="http://schemas.openxmlformats.org/drawingml/2006/main" flipH="0" flipV="0">
            <a:off x="6410325" y="1748925"/>
            <a:ext cx="5181600" cy="2864849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7082062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396CB61F-11A3-40C6-83CC-D27BB21D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081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29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实验之间的关系，最终落在两条共享感知基础的闭环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3B3EA0B-0826-45D7-BEFA-1574C6340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rPr>
              <a:t>移动机器人 / 自动驾驶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5E55AC3E-EE01-4752-BD60-C2175C4A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909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24A36A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4A36A"/>
                </a:solidFill>
                <a:latin typeface="微软雅黑"/>
                <a:ea typeface="微软雅黑"/>
                <a:cs typeface="微软雅黑"/>
              </a:rPr>
              <a:t>机械臂 / 操作</a:t>
            </a:r>
          </a:p>
        </p:txBody>
      </p:sp>
      <p:sp>
        <p:nvSpPr>
          <p:cNvPr id="4" name="右箭头 3">
            <a:extLst xmlns:a="http://schemas.openxmlformats.org/drawingml/2006/main">
              <a:ext uri="{FF2B5EF4-FFF2-40B4-BE49-F238E27FC236}">
                <a16:creationId xmlns:a16="http://schemas.microsoft.com/office/drawing/2014/main" id="{F35B5934-C076-47F0-A423-ABFB399E0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152650"/>
            <a:ext cx="42862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右箭头 4">
            <a:extLst xmlns:a="http://schemas.openxmlformats.org/drawingml/2006/main">
              <a:ext uri="{FF2B5EF4-FFF2-40B4-BE49-F238E27FC236}">
                <a16:creationId xmlns:a16="http://schemas.microsoft.com/office/drawing/2014/main" id="{C5FDCA54-24F9-4E56-9217-5EEB8EF6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152650"/>
            <a:ext cx="42862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右箭头 5">
            <a:extLst xmlns:a="http://schemas.openxmlformats.org/drawingml/2006/main">
              <a:ext uri="{FF2B5EF4-FFF2-40B4-BE49-F238E27FC236}">
                <a16:creationId xmlns:a16="http://schemas.microsoft.com/office/drawing/2014/main" id="{D7C1A195-5D3D-4246-9F5A-5CED32459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52650"/>
            <a:ext cx="42862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右箭头 6">
            <a:extLst xmlns:a="http://schemas.openxmlformats.org/drawingml/2006/main">
              <a:ext uri="{FF2B5EF4-FFF2-40B4-BE49-F238E27FC236}">
                <a16:creationId xmlns:a16="http://schemas.microsoft.com/office/drawing/2014/main" id="{E7628E66-F846-452D-BC90-19BB1F036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229100"/>
            <a:ext cx="42862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7E3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右箭头 7">
            <a:extLst xmlns:a="http://schemas.openxmlformats.org/drawingml/2006/main">
              <a:ext uri="{FF2B5EF4-FFF2-40B4-BE49-F238E27FC236}">
                <a16:creationId xmlns:a16="http://schemas.microsoft.com/office/drawing/2014/main" id="{5C5A85CA-08AB-46CF-A8AB-9376F216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229100"/>
            <a:ext cx="42862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7E3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CF61002C-6FBD-44C1-AB6C-3A461F47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71650"/>
            <a:ext cx="2095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B40F947-7722-409B-B1A8-1A82B10A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4310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感知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D541AE11-A90B-413D-BD62-D5CA6AE6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4315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①测距 + ⑦道路分割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15B5F1D9-3405-482F-BFFA-CF7CAF1BD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771650"/>
            <a:ext cx="2095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19050">
            <a:solidFill>
              <a:srgbClr val="F59E0B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78E39CB5-12FC-4642-859F-0E5615148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94310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风险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1BD5D667-E119-455B-96FD-E18C1D95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34315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②碰撞预测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67D5ABDC-5F9D-4EF7-B5F4-8632C9202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771650"/>
            <a:ext cx="2095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19050">
            <a:solidFill>
              <a:srgbClr val="7C6FF2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23651EFA-49E2-4285-8A76-F5D09282B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4310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策略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A8B0FF2-772F-4784-979F-9246D940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4315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③强化学习 + ⑤模仿学习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DF308A8F-4BD4-44DF-9348-DC04C391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71650"/>
            <a:ext cx="2095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19050">
            <a:solidFill>
              <a:srgbClr val="24A36A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92364D4C-C7E6-4680-B781-13DA16EA9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94310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驾驶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96FE7D80-35B6-422E-8C6E-7B6A7C20E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34315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⑧图像直接到转向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6139F4F4-6E3E-4C24-B2B0-FF78BF17D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48100"/>
            <a:ext cx="2095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01E1D5F5-6CA4-4F78-A0D9-D967E805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1955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场景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1F3103E9-8A9B-4D70-BAD1-86C8F3628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41960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④RGB-D三维重建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53EC1125-FC4E-48C4-A52D-E6850C78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848100"/>
            <a:ext cx="2095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19050">
            <a:solidFill>
              <a:srgbClr val="7C6FF2"/>
            </a:solidFill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84F10E09-40A7-4261-B90B-66D2961FB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01955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定位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B7D231C7-8FDE-4E72-9016-8F6A621C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41960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⑥SLAM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6085EB6A-BE8C-4674-BCCD-1017993CA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48100"/>
            <a:ext cx="2095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19050">
            <a:solidFill>
              <a:srgbClr val="24A36A"/>
            </a:solidFill>
            <a:prstDash val="solid"/>
          </a:ln>
        </p:spPr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30130191-CD68-4461-9DC6-2D080BCC8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01955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执行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869411A6-F44E-4037-A00E-358B4F0DC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41960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⑨逆运动学与关节控制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1CE7D96F-9EEC-4528-B558-6E5567536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14950"/>
            <a:ext cx="10896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DBFEDC3D-0DC9-479D-B934-A4552EB24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rPr>
              <a:t>共同机制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1D47C489-C192-473F-B647-0FBAF42FB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50545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传感器产生状态  →  算法形成判断  →  控制器执行动作  →  环境反馈再次进入传感器</a:t>
            </a:r>
          </a:p>
        </p:txBody>
      </p:sp>
      <p:cxnSp>
        <p:nvCxnSpPr>
          <p:cNvPr id="134" name="直接箭头连接符 67"/>
          <p:cNvCxnSpPr/>
          <p:nvPr/>
        </p:nvCxnSpPr>
        <p:spPr>
          <a:xfrm xmlns:a="http://schemas.openxmlformats.org/drawingml/2006/main">
            <a:off x="457200" y="6343650"/>
            <a:ext cx="108394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221778D2-E484-435C-8EA7-9AEDE6259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综合联系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8A786713-C488-469B-9E5E-723989A9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91221855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B94FDF8E-5636-41CA-A845-314994AF1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3D8D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3D8DFF"/>
                </a:solidFill>
                <a:latin typeface="微软雅黑"/>
                <a:ea typeface="微软雅黑"/>
                <a:cs typeface="微软雅黑"/>
              </a:rPr>
              <a:t>结论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099A4A0-1451-4249-AC65-E00D73A34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8763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0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50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智能来自闭环，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50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50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而不是某一个模型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EB773C30-B88D-47AA-9202-A7BA365FC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529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3D8DFF"/>
                </a:solidFill>
                <a:latin typeface="微软雅黑"/>
                <a:ea typeface="微软雅黑"/>
                <a:cs typeface="微软雅黑"/>
              </a:rPr>
              <a:t>看见环境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42A869F-1837-4A4C-80DD-CD3A2468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1529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7C6FF2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7C6FF2"/>
                </a:solidFill>
                <a:latin typeface="微软雅黑"/>
                <a:ea typeface="微软雅黑"/>
                <a:cs typeface="微软雅黑"/>
              </a:rPr>
              <a:t>理解与决策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D9F3FAE-FA6A-4D8E-80C1-204C3F405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529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4A36A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24A36A"/>
                </a:solidFill>
                <a:latin typeface="微软雅黑"/>
                <a:ea typeface="微软雅黑"/>
                <a:cs typeface="微软雅黑"/>
              </a:rPr>
              <a:t>动作与反馈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03D9CF4D-6E8D-45B1-A005-F9184B2E3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7250"/>
            <a:ext cx="257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检测、分割、重建、建图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31706D3-9A45-4D6C-A2FA-A08C1B32B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667250"/>
            <a:ext cx="257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预测、强化学习、模仿学习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D5F05D0-89CA-4296-AB80-346287A03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6725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车辆控制、逆运动学、闭环补偿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902183B-59AF-4088-A5B6-448E8BA7A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531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下一步：把分散实验接入同一机器人系统，并重点验证真实环境泛化。</a:t>
            </a:r>
          </a:p>
        </p:txBody>
      </p:sp>
      <p:cxnSp>
        <p:nvCxnSpPr>
          <p:cNvPr id="42" name="直接箭头连接符 21"/>
          <p:cNvCxnSpPr/>
          <p:nvPr/>
        </p:nvCxnSpPr>
        <p:spPr>
          <a:xfrm xmlns:a="http://schemas.openxmlformats.org/drawingml/2006/main">
            <a:off x="457200" y="6343650"/>
            <a:ext cx="108394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D29A739-5C41-41D8-9F64-10C7E137E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总结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D5B5D16D-5827-40FE-B068-E71B1AD88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30072025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C61AA06A-5596-4DB0-90DF-BA1C88D9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附录：九个实验录屏与结果速览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4F28345-9CE6-4CDE-BD83-859B52CF4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需要时按单个实验播放，快速回看输入、处理过程与最终输出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EE8918D-6111-4574-B116-776242BD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33909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14" name="图片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a9d1bd141b4473"/>
          <a:srcRect xmlns:a="http://schemas.openxmlformats.org/drawingml/2006/main" l="0" t="41504" r="0" b="415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" y="1695450"/>
            <a:ext cx="3352800" cy="1257300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9359123-C868-4367-BDAF-F26FF6A0A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90800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①测距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3B2C62CB-DFC1-4370-B3A1-16128B793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676400"/>
            <a:ext cx="33909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17" name="图片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d0a9c2a77d41dd"/>
          <a:srcRect xmlns:a="http://schemas.openxmlformats.org/drawingml/2006/main" l="0" t="20536" r="0" b="205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76700" y="1695450"/>
            <a:ext cx="3352800" cy="1257300"/>
          </a:xfrm>
          <a:prstGeom xmlns:a="http://schemas.openxmlformats.org/drawingml/2006/main" prst="rect">
            <a:avLst/>
          </a:prstGeom>
        </p:spPr>
      </p:pic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06E0EDC-C788-41A7-B3C2-07961D620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590800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②碰撞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BA7928B-1B73-492F-A227-3ADEF3285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676400"/>
            <a:ext cx="33909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20" name="图片 4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b69ff0e64746c7"/>
          <a:srcRect xmlns:a="http://schemas.openxmlformats.org/drawingml/2006/main" l="0" t="8002" r="0" b="80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77150" y="1695450"/>
            <a:ext cx="3352800" cy="1257300"/>
          </a:xfrm>
          <a:prstGeom xmlns:a="http://schemas.openxmlformats.org/drawingml/2006/main" prst="rect">
            <a:avLst/>
          </a:prstGeom>
        </p:spPr>
      </p:pic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C3DB951-5E3C-44D6-9B91-2A40D2308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590800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③平衡杆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2CB53B40-BC22-4707-A093-3DBBBD0A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81350"/>
            <a:ext cx="33909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23" name="图片 4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5dc08824634788"/>
          <a:srcRect xmlns:a="http://schemas.openxmlformats.org/drawingml/2006/main" l="0" t="23570" r="0" b="235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" y="3200400"/>
            <a:ext cx="3352800" cy="1257300"/>
          </a:xfrm>
          <a:prstGeom xmlns:a="http://schemas.openxmlformats.org/drawingml/2006/main" prst="rect">
            <a:avLst/>
          </a:prstGeom>
        </p:spPr>
      </p:pic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6455EFDB-6A7A-4AF6-B2C9-4EAFCA3D9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0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④重建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ECBD8CB7-D415-4403-93EF-16562A135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81350"/>
            <a:ext cx="33909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26" name="图片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0a604fb8ca4f8e"/>
          <a:srcRect xmlns:a="http://schemas.openxmlformats.org/drawingml/2006/main" l="0" t="994" r="0" b="9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76700" y="3200400"/>
            <a:ext cx="3352800" cy="1257300"/>
          </a:xfrm>
          <a:prstGeom xmlns:a="http://schemas.openxmlformats.org/drawingml/2006/main" prst="rect">
            <a:avLst/>
          </a:prstGeom>
        </p:spPr>
      </p:pic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D1E381C7-5757-4CA4-8FD2-20B43AA7C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095750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⑤模仿学习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12B37F17-A840-4EBD-BDDA-BA264133A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181350"/>
            <a:ext cx="33909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29" name="图片 5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49057d8a404e12"/>
          <a:srcRect xmlns:a="http://schemas.openxmlformats.org/drawingml/2006/main" l="0" t="31250" r="0" b="312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77150" y="3200400"/>
            <a:ext cx="3352800" cy="1257300"/>
          </a:xfrm>
          <a:prstGeom xmlns:a="http://schemas.openxmlformats.org/drawingml/2006/main" prst="rect">
            <a:avLst/>
          </a:prstGeom>
        </p:spPr>
      </p:pic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85D55999-6E17-4E1C-B364-B900AD057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095750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⑥SLAM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06D56472-807E-4101-B3A9-B567948A2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86300"/>
            <a:ext cx="33909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2" name="图片 5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bf414f620c4e25"/>
          <a:srcRect xmlns:a="http://schemas.openxmlformats.org/drawingml/2006/main" l="0" t="31250" r="0" b="312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" y="4705350"/>
            <a:ext cx="3352800" cy="1257300"/>
          </a:xfrm>
          <a:prstGeom xmlns:a="http://schemas.openxmlformats.org/drawingml/2006/main" prst="rect">
            <a:avLst/>
          </a:prstGeom>
        </p:spPr>
      </p:pic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4906667E-7128-4E06-8BEB-1F6949EDE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00700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⑦道路分割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A662E194-C1F3-40B5-A1C4-1DD6D0442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686300"/>
            <a:ext cx="33909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5" name="图片 5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621b75bfb9409f"/>
          <a:srcRect xmlns:a="http://schemas.openxmlformats.org/drawingml/2006/main" l="0" t="16617" r="0" b="166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76700" y="4705350"/>
            <a:ext cx="3352800" cy="1257300"/>
          </a:xfrm>
          <a:prstGeom xmlns:a="http://schemas.openxmlformats.org/drawingml/2006/main" prst="rect">
            <a:avLst/>
          </a:prstGeom>
        </p:spPr>
      </p:pic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363FA1EB-A09B-479D-97CE-89F64F109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5600700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⑧端到端驾驶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50481035-BD09-41FA-86FB-085D2A7E5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686300"/>
            <a:ext cx="33909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8" name="图片 5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b58fe8a79b4acf"/>
          <a:srcRect xmlns:a="http://schemas.openxmlformats.org/drawingml/2006/main" l="0" t="23245" r="0" b="232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77150" y="4705350"/>
            <a:ext cx="3352800" cy="1257300"/>
          </a:xfrm>
          <a:prstGeom xmlns:a="http://schemas.openxmlformats.org/drawingml/2006/main" prst="rect">
            <a:avLst/>
          </a:prstGeom>
        </p:spPr>
      </p:pic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5C5A3315-5843-46B7-B6C4-7673A0557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600700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⑨逆运动学</a:t>
            </a:r>
          </a:p>
        </p:txBody>
      </p:sp>
      <p:cxnSp>
        <p:nvCxnSpPr>
          <p:cNvPr id="140" name="直接箭头连接符 61"/>
          <p:cNvCxnSpPr/>
          <p:nvPr/>
        </p:nvCxnSpPr>
        <p:spPr>
          <a:xfrm xmlns:a="http://schemas.openxmlformats.org/drawingml/2006/main">
            <a:off x="457200" y="6343650"/>
            <a:ext cx="108394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31D3A621-D725-4E9D-BFF3-2D05701C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离线演示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6CFE4A46-EFF9-465A-8F9D-A1121F1B8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9717336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2026-08-02T11:45:39.0100000Z</dcterms:created>
  <dcterms:modified xsi:type="dcterms:W3CDTF">2026-08-02T11:45:39.0100000Z</dcterms:modified>
</coreProperties>
</file>